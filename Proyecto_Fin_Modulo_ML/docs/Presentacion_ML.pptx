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 Olalde" initials="JO" lastIdx="2" clrIdx="0">
    <p:extLst>
      <p:ext uri="{19B8F6BF-5375-455C-9EA6-DF929625EA0E}">
        <p15:presenceInfo xmlns:p15="http://schemas.microsoft.com/office/powerpoint/2012/main" userId="f85709ffc1bd4d0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3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7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DF344-C9CF-4683-AFBF-4D87FFAA2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5E8998-3F8F-4EBC-BB3E-2E6F18BE5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773F7A-B3E1-4B5C-AE87-7C114D5B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596E1D-8AEC-446D-9B95-B5746703A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D8634A-0513-44A1-BE8F-ECED2637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227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83593-453E-4272-8F47-00A5F636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8FFF72-09A0-419C-B30B-C2CB02557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7BB31B-FDC1-4CDC-A4D0-B23B3717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C0C7CD-2117-42E0-8B04-21042D622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A02272-2FB3-46A6-9982-7B4CB7AF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5952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7CD36-4EA1-42CE-9A9F-EFF20B09C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59A354-5FDC-4981-AD35-C4E3C1276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9CC8B0-B993-44F6-BD68-258BDEA2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8E8D77-E495-43A6-B985-6E67DE09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63AF0D-196D-49FA-A9D9-B068A753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8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814DF-2393-4E66-900A-AFE966ED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4251A9-1067-4939-B420-F5200BCCB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45F95D-D94D-4DDF-A7FC-D8F4EEF94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7BF8A9-14EE-4ECF-8601-F2639EBA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E19EEE-9A3E-4BCD-8A62-E4A62B35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86B9DA-7CE9-425B-AA64-A83D0E2B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047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D1F30-B6FE-47B5-8B70-A4DEE284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2FD4B1-92F3-461D-9FB9-244000D41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341930-02D8-4259-8F5D-863652D7A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C1399C-EE40-4BD1-838C-7BBAFA207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FACB810-4AA6-438B-8B0F-FD38D5874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DE4F0E4-84DF-49BC-BEC8-CC894399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87465C0-9AAC-41FC-AFDC-3A22FB29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334AD9-946D-48C1-A48D-D7E7DF05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9073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1BA95-1757-4323-A962-BF89CD3A8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98C85D-BF5D-4231-A32C-192E0DB1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6A118C-EFEA-449B-AB8E-3E4C5493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DB505A2-86B7-4D5A-A336-59C6678E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360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E4A7E5-D1CA-4995-A133-64C4F6F7E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13F4AA-2A30-4216-86F7-A9F30907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F8CFB7-E244-4675-AFA1-F515B1BE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123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3A163-9D1C-46F2-ACAA-DC8D1754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153883-CAB1-4ED5-96A0-A01CBE12E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059450-82A5-41E5-B90E-80FC72E8C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D51AF3-E410-42CF-875A-6CC36684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3D5E09-CDA9-44EF-9249-4EC5B0D1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9167DF-9EEC-4A16-97A0-F317AD88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7287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BEFF2-80A5-4AAA-A6EC-5B9056BF2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4A98C6-B524-4C4D-B324-77F0EFC91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1BB1DD5-7DA2-4FD9-9742-80C2299AA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5E5F1C-0460-4B76-8F71-754602F2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E9CD68-E743-49F1-8207-A0F9882F7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644BBD-101C-434B-AEB1-A85D5DA8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756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D2ED3-3F78-4BB1-BB73-0C3167BC8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905F9E-B05C-46C7-AF94-756BC8A9A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3D5836-D117-4E88-A3AB-7A9E9E4E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5A1CF4-43E8-4506-B702-FEAD8786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B2A009-30A1-4A01-8ED2-CCA7BDBF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648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3DA110-709C-4D50-BF98-790E08823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52162C-C861-4AA3-A37B-F646883C3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24302F-2E3D-4F27-A736-559E5FFD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7EDD8D-0B0B-4CAD-9960-76F804571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1F0128-1C09-43A0-9E66-9816073D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993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E4AA708-CE30-4E92-8AD4-F5E1F84A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CD6871-D027-4EC9-A421-FEC658BD6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E90EB5-E15B-4086-9ED5-76FF44150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DE120-9F22-4518-84BC-BE7A9B7F4923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5D440A-BF0C-40AA-8988-1C233500D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20FEFE-FE77-476C-AEF4-24A5757C6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023EC-5427-4C7C-8A2D-4D5574F153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26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ridge Reviews | SwitchUp">
            <a:extLst>
              <a:ext uri="{FF2B5EF4-FFF2-40B4-BE49-F238E27FC236}">
                <a16:creationId xmlns:a16="http://schemas.microsoft.com/office/drawing/2014/main" id="{08FF0535-4630-4D8E-89F6-BEFA28AC6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752464-7820-4C47-AB93-274CABE211A1}"/>
              </a:ext>
            </a:extLst>
          </p:cNvPr>
          <p:cNvSpPr txBox="1"/>
          <p:nvPr/>
        </p:nvSpPr>
        <p:spPr>
          <a:xfrm>
            <a:off x="1895771" y="1543858"/>
            <a:ext cx="80869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Proyecto Final Modulo de Machine </a:t>
            </a:r>
            <a:r>
              <a:rPr lang="es-ES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</a:t>
            </a:r>
            <a:endParaRPr lang="es-E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EC318FC-0310-47C7-9291-44822F53BCBF}"/>
              </a:ext>
            </a:extLst>
          </p:cNvPr>
          <p:cNvSpPr txBox="1"/>
          <p:nvPr/>
        </p:nvSpPr>
        <p:spPr>
          <a:xfrm>
            <a:off x="4735585" y="2744187"/>
            <a:ext cx="2407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s-ES" sz="2000" u="sng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s-ES" sz="2000" u="sng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Bootcamp</a:t>
            </a:r>
            <a:r>
              <a:rPr lang="es-ES" sz="2000" u="sng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Data </a:t>
            </a:r>
            <a:r>
              <a:rPr lang="es-ES" sz="2000" u="sng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Science</a:t>
            </a:r>
            <a:r>
              <a:rPr lang="es-ES" sz="2000" u="sng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algn="ctr"/>
            <a:endParaRPr lang="es-ES" u="sng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s-E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Jon Olalde Jometon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84E2F9-6BED-4A55-B3C5-091E46E0C175}"/>
              </a:ext>
            </a:extLst>
          </p:cNvPr>
          <p:cNvSpPr txBox="1"/>
          <p:nvPr/>
        </p:nvSpPr>
        <p:spPr>
          <a:xfrm>
            <a:off x="4735585" y="4492277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Agosto de 2025</a:t>
            </a:r>
          </a:p>
        </p:txBody>
      </p:sp>
    </p:spTree>
    <p:extLst>
      <p:ext uri="{BB962C8B-B14F-4D97-AF65-F5344CB8AC3E}">
        <p14:creationId xmlns:p14="http://schemas.microsoft.com/office/powerpoint/2010/main" val="534131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ridge Reviews | SwitchUp">
            <a:extLst>
              <a:ext uri="{FF2B5EF4-FFF2-40B4-BE49-F238E27FC236}">
                <a16:creationId xmlns:a16="http://schemas.microsoft.com/office/drawing/2014/main" id="{08FF0535-4630-4D8E-89F6-BEFA28AC6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9B81ED-7D0E-4636-99FC-B9D5713C0A91}"/>
              </a:ext>
            </a:extLst>
          </p:cNvPr>
          <p:cNvSpPr txBox="1"/>
          <p:nvPr/>
        </p:nvSpPr>
        <p:spPr>
          <a:xfrm>
            <a:off x="152400" y="246221"/>
            <a:ext cx="431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</a:t>
            </a:r>
          </a:p>
        </p:txBody>
      </p:sp>
      <p:pic>
        <p:nvPicPr>
          <p:cNvPr id="2052" name="Picture 4" descr="Consumer Financial Protection Bureau - Wikipedia">
            <a:extLst>
              <a:ext uri="{FF2B5EF4-FFF2-40B4-BE49-F238E27FC236}">
                <a16:creationId xmlns:a16="http://schemas.microsoft.com/office/drawing/2014/main" id="{69EEDE1E-822E-4F8B-A276-5C2825DBF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2" y="2976880"/>
            <a:ext cx="3017520" cy="301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ficina para la Protección Financiera del Consumidor">
            <a:extLst>
              <a:ext uri="{FF2B5EF4-FFF2-40B4-BE49-F238E27FC236}">
                <a16:creationId xmlns:a16="http://schemas.microsoft.com/office/drawing/2014/main" id="{08A630B6-D5D7-4898-918F-A1B249839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273" y="1732278"/>
            <a:ext cx="3864672" cy="67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AA7ECAC-20C0-4C91-A7B1-BBEF27F28575}"/>
              </a:ext>
            </a:extLst>
          </p:cNvPr>
          <p:cNvSpPr txBox="1"/>
          <p:nvPr/>
        </p:nvSpPr>
        <p:spPr>
          <a:xfrm>
            <a:off x="254000" y="1732278"/>
            <a:ext cx="538480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700" dirty="0"/>
              <a:t>Caso </a:t>
            </a:r>
            <a:r>
              <a:rPr lang="es-ES" sz="1700" dirty="0">
                <a:sym typeface="Wingdings" panose="05000000000000000000" pitchFamily="2" charset="2"/>
              </a:rPr>
              <a:t> Quejas presentadas por distintos consumidores ante la Oficina de </a:t>
            </a:r>
            <a:r>
              <a:rPr lang="es-ES" sz="1700" dirty="0" err="1">
                <a:sym typeface="Wingdings" panose="05000000000000000000" pitchFamily="2" charset="2"/>
              </a:rPr>
              <a:t>Proteccion</a:t>
            </a:r>
            <a:r>
              <a:rPr lang="es-ES" sz="1700" dirty="0">
                <a:sym typeface="Wingdings" panose="05000000000000000000" pitchFamily="2" charset="2"/>
              </a:rPr>
              <a:t> Financiera al Consumidor o CFPC</a:t>
            </a:r>
          </a:p>
          <a:p>
            <a:endParaRPr lang="es-ES" sz="1700" dirty="0">
              <a:sym typeface="Wingdings" panose="05000000000000000000" pitchFamily="2" charset="2"/>
            </a:endParaRPr>
          </a:p>
          <a:p>
            <a:pPr algn="just"/>
            <a:r>
              <a:rPr lang="es-ES" sz="1700" dirty="0">
                <a:sym typeface="Wingdings" panose="05000000000000000000" pitchFamily="2" charset="2"/>
              </a:rPr>
              <a:t>El dataset posibilita</a:t>
            </a:r>
            <a:r>
              <a:rPr lang="es-ES" sz="1700" b="1" dirty="0">
                <a:sym typeface="Wingdings" panose="05000000000000000000" pitchFamily="2" charset="2"/>
              </a:rPr>
              <a:t> el análisis de patrones </a:t>
            </a:r>
            <a:r>
              <a:rPr lang="es-ES" sz="1700" dirty="0">
                <a:sym typeface="Wingdings" panose="05000000000000000000" pitchFamily="2" charset="2"/>
              </a:rPr>
              <a:t>de comportamiento.</a:t>
            </a:r>
          </a:p>
          <a:p>
            <a:endParaRPr lang="es-ES" sz="1700" dirty="0">
              <a:sym typeface="Wingdings" panose="05000000000000000000" pitchFamily="2" charset="2"/>
            </a:endParaRPr>
          </a:p>
          <a:p>
            <a:r>
              <a:rPr lang="es-ES" sz="1700" dirty="0">
                <a:sym typeface="Wingdings" panose="05000000000000000000" pitchFamily="2" charset="2"/>
              </a:rPr>
              <a:t>El </a:t>
            </a:r>
            <a:r>
              <a:rPr lang="es-ES" sz="1700" b="1" dirty="0">
                <a:sym typeface="Wingdings" panose="05000000000000000000" pitchFamily="2" charset="2"/>
              </a:rPr>
              <a:t>análisis</a:t>
            </a:r>
            <a:r>
              <a:rPr lang="es-ES" sz="1700" dirty="0">
                <a:sym typeface="Wingdings" panose="05000000000000000000" pitchFamily="2" charset="2"/>
              </a:rPr>
              <a:t> de estos datos es </a:t>
            </a:r>
            <a:r>
              <a:rPr lang="es-ES" sz="1700" b="1" dirty="0">
                <a:sym typeface="Wingdings" panose="05000000000000000000" pitchFamily="2" charset="2"/>
              </a:rPr>
              <a:t>relevante</a:t>
            </a:r>
            <a:r>
              <a:rPr lang="es-ES" sz="1700" dirty="0">
                <a:sym typeface="Wingdings" panose="05000000000000000000" pitchFamily="2" charset="2"/>
              </a:rPr>
              <a:t> por: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700" b="1" dirty="0">
                <a:sym typeface="Wingdings" panose="05000000000000000000" pitchFamily="2" charset="2"/>
              </a:rPr>
              <a:t>Impacto Social y económico.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700" b="1" dirty="0">
                <a:sym typeface="Wingdings" panose="05000000000000000000" pitchFamily="2" charset="2"/>
              </a:rPr>
              <a:t>Valor empresarial.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700" b="1" dirty="0">
                <a:sym typeface="Wingdings" panose="05000000000000000000" pitchFamily="2" charset="2"/>
              </a:rPr>
              <a:t>Aplicabilidad técnica.</a:t>
            </a:r>
            <a:endParaRPr lang="es-ES" sz="1700" b="1" dirty="0"/>
          </a:p>
        </p:txBody>
      </p:sp>
    </p:spTree>
    <p:extLst>
      <p:ext uri="{BB962C8B-B14F-4D97-AF65-F5344CB8AC3E}">
        <p14:creationId xmlns:p14="http://schemas.microsoft.com/office/powerpoint/2010/main" val="3767203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ridge Reviews | SwitchUp">
            <a:extLst>
              <a:ext uri="{FF2B5EF4-FFF2-40B4-BE49-F238E27FC236}">
                <a16:creationId xmlns:a16="http://schemas.microsoft.com/office/drawing/2014/main" id="{08FF0535-4630-4D8E-89F6-BEFA28AC6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3240242-BEA0-4F5A-BC58-0E4344ED7B56}"/>
              </a:ext>
            </a:extLst>
          </p:cNvPr>
          <p:cNvSpPr txBox="1"/>
          <p:nvPr/>
        </p:nvSpPr>
        <p:spPr>
          <a:xfrm>
            <a:off x="213360" y="1756830"/>
            <a:ext cx="7934960" cy="414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700" dirty="0"/>
              <a:t>El proyecto se va a enfocar en los siguientes aspectos:</a:t>
            </a:r>
          </a:p>
          <a:p>
            <a:pPr marL="342900" indent="-342900">
              <a:buFont typeface="+mj-lt"/>
              <a:buAutoNum type="arabicPeriod"/>
            </a:pPr>
            <a:endParaRPr lang="es-ES" sz="1700" dirty="0"/>
          </a:p>
          <a:p>
            <a:pPr marL="342900" indent="-342900" algn="just">
              <a:buFont typeface="+mj-lt"/>
              <a:buAutoNum type="arabicPeriod"/>
            </a:pPr>
            <a:r>
              <a:rPr lang="es-ES" sz="1700" b="1" dirty="0"/>
              <a:t>Análisis Descriptivo de los Datos (EDA): </a:t>
            </a:r>
            <a:r>
              <a:rPr lang="es-ES" sz="17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Con el fin de comprender su estructura de los datos, limpiar y extraer  los patrones iniciales.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17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</a:rPr>
              <a:t>Construcción de los modelos predictivos: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 Se va a proceder a desarrollar 3 modelos, dos de clasificación y uno de regresión, con el fin de responder las siguientes preguntas claves: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¿El consumidor disputara la respuesta obtenida por parte de la empresa?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¿La queja será respondida a tiempo o no?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¿Cuánto de rápido será la queja procesada por la CPFB</a:t>
            </a:r>
          </a:p>
          <a:p>
            <a:pPr marL="1257300" lvl="2" indent="-342900">
              <a:buFont typeface="+mj-lt"/>
              <a:buAutoNum type="arabicPeriod"/>
            </a:pPr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</a:rPr>
              <a:t>Evaluación y comparación de los resultados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: Medir el rendimiento de los diversos modelos en base a sus métricas.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65FE770-1652-4E9B-A49F-67D278A40A76}"/>
              </a:ext>
            </a:extLst>
          </p:cNvPr>
          <p:cNvSpPr txBox="1"/>
          <p:nvPr/>
        </p:nvSpPr>
        <p:spPr>
          <a:xfrm>
            <a:off x="152400" y="246221"/>
            <a:ext cx="6902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MARCO TEORÍCO - PRÁCTICO</a:t>
            </a:r>
          </a:p>
        </p:txBody>
      </p:sp>
    </p:spTree>
    <p:extLst>
      <p:ext uri="{BB962C8B-B14F-4D97-AF65-F5344CB8AC3E}">
        <p14:creationId xmlns:p14="http://schemas.microsoft.com/office/powerpoint/2010/main" val="884838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3240242-BEA0-4F5A-BC58-0E4344ED7B56}"/>
              </a:ext>
            </a:extLst>
          </p:cNvPr>
          <p:cNvSpPr txBox="1"/>
          <p:nvPr/>
        </p:nvSpPr>
        <p:spPr>
          <a:xfrm>
            <a:off x="1274184" y="1513510"/>
            <a:ext cx="902208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El origen del dataset provienen de la plataforma publica del CFPB. </a:t>
            </a:r>
            <a:r>
              <a:rPr lang="es-ES" sz="17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consta de 28.156 reclamaciones (filas) y 14 variables, con un periodo temporal cubierto que va desde el 01-01-2015 al 19-03-2015.</a:t>
            </a:r>
            <a:endParaRPr lang="es-ES" sz="17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E9318E5B-E231-4280-A772-2AFD1EC2B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943352"/>
              </p:ext>
            </p:extLst>
          </p:nvPr>
        </p:nvGraphicFramePr>
        <p:xfrm>
          <a:off x="1108512" y="2312215"/>
          <a:ext cx="971295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241">
                  <a:extLst>
                    <a:ext uri="{9D8B030D-6E8A-4147-A177-3AD203B41FA5}">
                      <a16:colId xmlns:a16="http://schemas.microsoft.com/office/drawing/2014/main" val="1300067028"/>
                    </a:ext>
                  </a:extLst>
                </a:gridCol>
                <a:gridCol w="3210065">
                  <a:extLst>
                    <a:ext uri="{9D8B030D-6E8A-4147-A177-3AD203B41FA5}">
                      <a16:colId xmlns:a16="http://schemas.microsoft.com/office/drawing/2014/main" val="2309077422"/>
                    </a:ext>
                  </a:extLst>
                </a:gridCol>
                <a:gridCol w="3237653">
                  <a:extLst>
                    <a:ext uri="{9D8B030D-6E8A-4147-A177-3AD203B41FA5}">
                      <a16:colId xmlns:a16="http://schemas.microsoft.com/office/drawing/2014/main" val="1980271"/>
                    </a:ext>
                  </a:extLst>
                </a:gridCol>
              </a:tblGrid>
              <a:tr h="270598">
                <a:tc>
                  <a:txBody>
                    <a:bodyPr/>
                    <a:lstStyle/>
                    <a:p>
                      <a:r>
                        <a:rPr lang="es-ES" sz="1600" dirty="0"/>
                        <a:t>Grupo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Variable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Descripción</a:t>
                      </a:r>
                      <a:endParaRPr lang="es-ES" sz="1100" dirty="0"/>
                    </a:p>
                  </a:txBody>
                  <a:tcPr>
                    <a:solidFill>
                      <a:srgbClr val="E233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742576"/>
                  </a:ext>
                </a:extLst>
              </a:tr>
              <a:tr h="274778">
                <a:tc>
                  <a:txBody>
                    <a:bodyPr/>
                    <a:lstStyle/>
                    <a:p>
                      <a:r>
                        <a:rPr lang="es-ES" sz="1400" b="1" dirty="0"/>
                        <a:t>Identificación y fechas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Complaint</a:t>
                      </a:r>
                      <a:r>
                        <a:rPr lang="es-ES" sz="1400" dirty="0"/>
                        <a:t> ID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Identificador único de la queja.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45024"/>
                  </a:ext>
                </a:extLst>
              </a:tr>
              <a:tr h="193498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/>
                        <a:t>Date </a:t>
                      </a:r>
                      <a:r>
                        <a:rPr lang="es-ES" sz="1400" dirty="0" err="1"/>
                        <a:t>Recieved</a:t>
                      </a:r>
                      <a:endParaRPr lang="es-ES" sz="14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Fecha de recepción del CFPB.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059692"/>
                  </a:ext>
                </a:extLst>
              </a:tr>
              <a:tr h="274778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Date </a:t>
                      </a:r>
                      <a:r>
                        <a:rPr lang="es-ES" sz="1400" dirty="0" err="1"/>
                        <a:t>sent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to</a:t>
                      </a:r>
                      <a:r>
                        <a:rPr lang="es-ES" sz="1400" dirty="0"/>
                        <a:t>  </a:t>
                      </a:r>
                      <a:r>
                        <a:rPr lang="es-ES" sz="1400" dirty="0" err="1"/>
                        <a:t>company</a:t>
                      </a:r>
                      <a:endParaRPr lang="es-ES" sz="14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Fecha de envió a la Compañía.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336970"/>
                  </a:ext>
                </a:extLst>
              </a:tr>
              <a:tr h="274778">
                <a:tc>
                  <a:txBody>
                    <a:bodyPr/>
                    <a:lstStyle/>
                    <a:p>
                      <a:r>
                        <a:rPr lang="es-ES" sz="1400" b="1" dirty="0"/>
                        <a:t>Descripción del caso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Product</a:t>
                      </a:r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Tipo de Producto Financiero.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83910"/>
                  </a:ext>
                </a:extLst>
              </a:tr>
              <a:tr h="264618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Sub </a:t>
                      </a:r>
                      <a:r>
                        <a:rPr lang="es-ES" sz="1400" dirty="0" err="1"/>
                        <a:t>Product</a:t>
                      </a:r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Categoría especifica dentro del producto.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741098"/>
                  </a:ext>
                </a:extLst>
              </a:tr>
              <a:tr h="153316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Issue</a:t>
                      </a:r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Problema reportado.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65763"/>
                  </a:ext>
                </a:extLst>
              </a:tr>
              <a:tr h="304325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Sub </a:t>
                      </a:r>
                      <a:r>
                        <a:rPr lang="es-ES" sz="1400" dirty="0" err="1"/>
                        <a:t>Issue</a:t>
                      </a:r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Detalle adicional del problema.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466669"/>
                  </a:ext>
                </a:extLst>
              </a:tr>
              <a:tr h="284952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State</a:t>
                      </a:r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Estado del consumidor.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301461"/>
                  </a:ext>
                </a:extLst>
              </a:tr>
              <a:tr h="304325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ZIP </a:t>
                      </a:r>
                      <a:r>
                        <a:rPr lang="es-ES" sz="1400" dirty="0" err="1"/>
                        <a:t>Code</a:t>
                      </a:r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Código postal del consumidor.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199329"/>
                  </a:ext>
                </a:extLst>
              </a:tr>
              <a:tr h="304325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Company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Entidad Financiera involucrada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90991"/>
                  </a:ext>
                </a:extLst>
              </a:tr>
              <a:tr h="304325">
                <a:tc>
                  <a:txBody>
                    <a:bodyPr/>
                    <a:lstStyle/>
                    <a:p>
                      <a:r>
                        <a:rPr lang="es-ES" sz="1400" b="1" dirty="0"/>
                        <a:t>Resultados / Estado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Company Response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Tipo de respuesta de la compañía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483733"/>
                  </a:ext>
                </a:extLst>
              </a:tr>
              <a:tr h="283489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Timely</a:t>
                      </a:r>
                      <a:r>
                        <a:rPr lang="es-ES" sz="1400" dirty="0"/>
                        <a:t> response?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¿Respondió en plazo?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678176"/>
                  </a:ext>
                </a:extLst>
              </a:tr>
              <a:tr h="304325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Consumer </a:t>
                      </a:r>
                      <a:r>
                        <a:rPr lang="es-ES" sz="1400" dirty="0" err="1"/>
                        <a:t>disputed</a:t>
                      </a:r>
                      <a:r>
                        <a:rPr lang="es-ES" sz="1400" dirty="0"/>
                        <a:t>?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¿Consumidor conforme?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39871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AB63137F-89FA-42B4-8416-A8E5F18DD903}"/>
              </a:ext>
            </a:extLst>
          </p:cNvPr>
          <p:cNvSpPr txBox="1"/>
          <p:nvPr/>
        </p:nvSpPr>
        <p:spPr>
          <a:xfrm>
            <a:off x="152400" y="246221"/>
            <a:ext cx="6902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72708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graphicFrame>
        <p:nvGraphicFramePr>
          <p:cNvPr id="11" name="Tabla 11">
            <a:extLst>
              <a:ext uri="{FF2B5EF4-FFF2-40B4-BE49-F238E27FC236}">
                <a16:creationId xmlns:a16="http://schemas.microsoft.com/office/drawing/2014/main" id="{2A05D5DA-B124-4A25-82B3-56018704F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097856"/>
              </p:ext>
            </p:extLst>
          </p:nvPr>
        </p:nvGraphicFramePr>
        <p:xfrm>
          <a:off x="903940" y="1372799"/>
          <a:ext cx="10160001" cy="5417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667">
                  <a:extLst>
                    <a:ext uri="{9D8B030D-6E8A-4147-A177-3AD203B41FA5}">
                      <a16:colId xmlns:a16="http://schemas.microsoft.com/office/drawing/2014/main" val="3176054931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1919594646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199873187"/>
                    </a:ext>
                  </a:extLst>
                </a:gridCol>
              </a:tblGrid>
              <a:tr h="285077">
                <a:tc>
                  <a:txBody>
                    <a:bodyPr/>
                    <a:lstStyle/>
                    <a:p>
                      <a:r>
                        <a:rPr lang="es-ES" sz="1300" b="1" dirty="0"/>
                        <a:t>Aspecto</a:t>
                      </a:r>
                      <a:endParaRPr lang="es-ES" sz="1300" dirty="0"/>
                    </a:p>
                  </a:txBody>
                  <a:tcPr anchor="ctr"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b="1" dirty="0"/>
                        <a:t>Variable</a:t>
                      </a:r>
                      <a:endParaRPr lang="es-ES" sz="1300" dirty="0"/>
                    </a:p>
                  </a:txBody>
                  <a:tcPr anchor="ctr"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b="1" dirty="0"/>
                        <a:t>Descripción / Distribución</a:t>
                      </a:r>
                      <a:endParaRPr lang="es-ES" sz="1300" dirty="0"/>
                    </a:p>
                  </a:txBody>
                  <a:tcPr anchor="ctr">
                    <a:solidFill>
                      <a:srgbClr val="E233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63588"/>
                  </a:ext>
                </a:extLst>
              </a:tr>
              <a:tr h="316259">
                <a:tc>
                  <a:txBody>
                    <a:bodyPr/>
                    <a:lstStyle/>
                    <a:p>
                      <a:r>
                        <a:rPr lang="es-ES" sz="1300" b="1" dirty="0"/>
                        <a:t>Valores faltantes</a:t>
                      </a:r>
                      <a:endParaRPr lang="es-E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Consumer </a:t>
                      </a:r>
                      <a:r>
                        <a:rPr lang="es-ES" sz="1300" dirty="0" err="1"/>
                        <a:t>disputed</a:t>
                      </a:r>
                      <a:r>
                        <a:rPr lang="es-ES" sz="13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78,7% nulos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658822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endParaRPr lang="es-E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 dirty="0" err="1"/>
                        <a:t>Sub-issue</a:t>
                      </a:r>
                      <a:endParaRPr lang="es-E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53,1% nulos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456694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endParaRPr lang="es-E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Sub-product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37,6% nulos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721968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endParaRPr lang="es-E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 dirty="0" err="1"/>
                        <a:t>State</a:t>
                      </a:r>
                      <a:endParaRPr lang="es-E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1,5% nulos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152453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endParaRPr lang="es-E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ZIP </a:t>
                      </a:r>
                      <a:r>
                        <a:rPr lang="es-ES" sz="1300" dirty="0" err="1"/>
                        <a:t>code</a:t>
                      </a:r>
                      <a:endParaRPr lang="es-E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0,99% nulos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176077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endParaRPr lang="es-E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Resto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Sin apenas nulos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901796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r>
                        <a:rPr lang="es-ES" sz="1300" b="1" dirty="0"/>
                        <a:t>Distribuciones clave</a:t>
                      </a:r>
                      <a:endParaRPr lang="es-ES" sz="13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/>
                        <a:t>Timely response?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Yes: 97,5%  // No: 2,5% 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031923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endParaRPr lang="es-E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Consumer </a:t>
                      </a:r>
                      <a:r>
                        <a:rPr lang="es-ES" sz="1300" dirty="0" err="1"/>
                        <a:t>disputed</a:t>
                      </a:r>
                      <a:r>
                        <a:rPr lang="es-ES" sz="1300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Yes: 78,4% / No: 21,6% / Faltantes: 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186835"/>
                  </a:ext>
                </a:extLst>
              </a:tr>
              <a:tr h="675182">
                <a:tc>
                  <a:txBody>
                    <a:bodyPr/>
                    <a:lstStyle/>
                    <a:p>
                      <a:endParaRPr lang="es-ES" sz="13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/>
                        <a:t>Company response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Closed w/ explanation: 68,8% / Non-monetary relief: 12,8% / In progress: 9,6% / Monetary relief: 5,4% / Closed: 2,2% / Untimely: 1,3%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100550"/>
                  </a:ext>
                </a:extLst>
              </a:tr>
              <a:tr h="675182">
                <a:tc>
                  <a:txBody>
                    <a:bodyPr/>
                    <a:lstStyle/>
                    <a:p>
                      <a:endParaRPr lang="es-ES" sz="13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err="1"/>
                        <a:t>Product</a:t>
                      </a:r>
                      <a:r>
                        <a:rPr lang="es-ES" sz="1300" dirty="0"/>
                        <a:t> (Top 5)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Debt collection: 26,6% / Mortgage: 23,5% / Credit reporting: 20,3% / Credit card: 10,1% / Bank account: 9,3%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707588"/>
                  </a:ext>
                </a:extLst>
              </a:tr>
              <a:tr h="870235">
                <a:tc>
                  <a:txBody>
                    <a:bodyPr/>
                    <a:lstStyle/>
                    <a:p>
                      <a:endParaRPr lang="es-ES" sz="13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err="1"/>
                        <a:t>Issue</a:t>
                      </a:r>
                      <a:r>
                        <a:rPr lang="es-ES" sz="1300" dirty="0"/>
                        <a:t> (Top 5)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Incorrect info credit report: 4.170 / Collect debt not owed: 3.351 / Loan modification: 3.049 / Loan servicing: 2.627 / Disclosure verification: 1.300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147144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B2CF3AA5-A80A-42FE-A7C3-86C8ED1AA6F5}"/>
              </a:ext>
            </a:extLst>
          </p:cNvPr>
          <p:cNvSpPr txBox="1"/>
          <p:nvPr/>
        </p:nvSpPr>
        <p:spPr>
          <a:xfrm>
            <a:off x="152400" y="24622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- Calidad de los datos y distribuciones clave</a:t>
            </a:r>
          </a:p>
        </p:txBody>
      </p:sp>
    </p:spTree>
    <p:extLst>
      <p:ext uri="{BB962C8B-B14F-4D97-AF65-F5344CB8AC3E}">
        <p14:creationId xmlns:p14="http://schemas.microsoft.com/office/powerpoint/2010/main" val="3479695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ridge Reviews | SwitchUp">
            <a:extLst>
              <a:ext uri="{FF2B5EF4-FFF2-40B4-BE49-F238E27FC236}">
                <a16:creationId xmlns:a16="http://schemas.microsoft.com/office/drawing/2014/main" id="{08FF0535-4630-4D8E-89F6-BEFA28AC6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3240242-BEA0-4F5A-BC58-0E4344ED7B56}"/>
              </a:ext>
            </a:extLst>
          </p:cNvPr>
          <p:cNvSpPr txBox="1"/>
          <p:nvPr/>
        </p:nvSpPr>
        <p:spPr>
          <a:xfrm>
            <a:off x="437478" y="2160242"/>
            <a:ext cx="7934960" cy="335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12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abordar estos problemas se aplicaron distintas estrategias: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Imputación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eliminación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valores nulos 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según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relevancia de la variable</a:t>
            </a:r>
            <a:endParaRPr lang="es-E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Agrupación o transformación de variables categóricas de alta cardinalidad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Generación de nuevas variables 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partir de otras (ej. diferencia entre “</a:t>
            </a:r>
            <a:r>
              <a:rPr lang="es-E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</a:t>
            </a:r>
            <a:r>
              <a:rPr lang="es-E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</a:t>
            </a:r>
            <a:r>
              <a:rPr lang="es-E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“</a:t>
            </a:r>
            <a:r>
              <a:rPr lang="es-E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received</a:t>
            </a:r>
            <a:r>
              <a:rPr lang="es-E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estimar el tiempo de respuesta).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Codificación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categóricas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Balanceo de las clases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debido a la desigualdad entre ellas.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400" y="246221"/>
            <a:ext cx="6902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- Preparación</a:t>
            </a:r>
          </a:p>
        </p:txBody>
      </p:sp>
    </p:spTree>
    <p:extLst>
      <p:ext uri="{BB962C8B-B14F-4D97-AF65-F5344CB8AC3E}">
        <p14:creationId xmlns:p14="http://schemas.microsoft.com/office/powerpoint/2010/main" val="3690709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ridge Reviews | SwitchUp">
            <a:extLst>
              <a:ext uri="{FF2B5EF4-FFF2-40B4-BE49-F238E27FC236}">
                <a16:creationId xmlns:a16="http://schemas.microsoft.com/office/drawing/2014/main" id="{08FF0535-4630-4D8E-89F6-BEFA28AC6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7808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- Limpieza de los Datos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85F6BB8-C5AB-4AED-AF93-FFC1C1DC4A9E}"/>
              </a:ext>
            </a:extLst>
          </p:cNvPr>
          <p:cNvSpPr txBox="1"/>
          <p:nvPr/>
        </p:nvSpPr>
        <p:spPr>
          <a:xfrm>
            <a:off x="152399" y="1485641"/>
            <a:ext cx="8597155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Eliminación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 de la columna auxiliar – </a:t>
            </a: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Unnamed:0 - 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ya que no contiene información relevante</a:t>
            </a:r>
          </a:p>
          <a:p>
            <a:pPr marL="342900" indent="-342900">
              <a:buAutoNum type="arabicPeriod"/>
            </a:pPr>
            <a:endParaRPr lang="es-ES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Conversión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Date </a:t>
            </a:r>
            <a:r>
              <a:rPr lang="es-ES" sz="1500" i="1" dirty="0" err="1">
                <a:ea typeface="Calibri" panose="020F0502020204030204" pitchFamily="34" charset="0"/>
                <a:cs typeface="Calibri" panose="020F0502020204030204" pitchFamily="34" charset="0"/>
              </a:rPr>
              <a:t>Recieved</a:t>
            </a: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Date </a:t>
            </a:r>
            <a:r>
              <a:rPr lang="es-ES" sz="1500" i="1" dirty="0" err="1">
                <a:ea typeface="Calibri" panose="020F0502020204030204" pitchFamily="34" charset="0"/>
                <a:cs typeface="Calibri" panose="020F0502020204030204" pitchFamily="34" charset="0"/>
              </a:rPr>
              <a:t>Sent</a:t>
            </a: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500" i="1" dirty="0" err="1"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 Company: 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formato </a:t>
            </a:r>
            <a:r>
              <a:rPr lang="es-ES" sz="1500" b="1" dirty="0" err="1">
                <a:ea typeface="Calibri" panose="020F0502020204030204" pitchFamily="34" charset="0"/>
                <a:cs typeface="Calibri" panose="020F0502020204030204" pitchFamily="34" charset="0"/>
              </a:rPr>
              <a:t>datetime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, para posteriormente </a:t>
            </a: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crear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variable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500" i="1" dirty="0" err="1">
                <a:ea typeface="Calibri" panose="020F0502020204030204" pitchFamily="34" charset="0"/>
                <a:cs typeface="Calibri" panose="020F0502020204030204" pitchFamily="34" charset="0"/>
              </a:rPr>
              <a:t>Response_days</a:t>
            </a: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AutoNum type="arabicPeriod"/>
            </a:pPr>
            <a:endParaRPr lang="es-ES" sz="1500" i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Consumer </a:t>
            </a:r>
            <a:r>
              <a:rPr lang="es-ES" sz="1500" i="1" dirty="0" err="1">
                <a:ea typeface="Calibri" panose="020F0502020204030204" pitchFamily="34" charset="0"/>
                <a:cs typeface="Calibri" panose="020F0502020204030204" pitchFamily="34" charset="0"/>
              </a:rPr>
              <a:t>disputed</a:t>
            </a: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? 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Con 78,8% de valores nulos, se ha optado por </a:t>
            </a: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imputar con “No” a casos cerrados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 y a </a:t>
            </a: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s-ES" sz="1500" b="1" dirty="0" err="1">
                <a:ea typeface="Calibri" panose="020F0502020204030204" pitchFamily="34" charset="0"/>
                <a:cs typeface="Calibri" panose="020F0502020204030204" pitchFamily="34" charset="0"/>
              </a:rPr>
              <a:t>Pending</a:t>
            </a: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” casos abiertos o con respuesta tardía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s-ES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Geografía (</a:t>
            </a:r>
            <a:r>
              <a:rPr lang="es-ES" sz="1500" i="1" dirty="0" err="1">
                <a:ea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ZIP </a:t>
            </a:r>
            <a:r>
              <a:rPr lang="es-ES" sz="1500" i="1" dirty="0" err="1"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) con aproximadamente 1% nulos, se opta por una </a:t>
            </a: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imputación cruzada usando rangos de códigos postales.</a:t>
            </a:r>
          </a:p>
          <a:p>
            <a:pPr marL="342900" indent="-342900">
              <a:buFont typeface="+mj-lt"/>
              <a:buAutoNum type="arabicPeriod"/>
            </a:pPr>
            <a:endParaRPr lang="es-ES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500" i="1" dirty="0">
                <a:ea typeface="Calibri" panose="020F0502020204030204" pitchFamily="34" charset="0"/>
                <a:cs typeface="Calibri" panose="020F0502020204030204" pitchFamily="34" charset="0"/>
              </a:rPr>
              <a:t>Company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: Presenta 1.534 valores únicos, con una distribución muy sesgada. Por lo que se opta por </a:t>
            </a: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normalizar y realizar agrupaciones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 de aquellas cuyos </a:t>
            </a:r>
            <a:r>
              <a:rPr lang="es-ES" sz="1500" b="1" i="1" dirty="0" err="1">
                <a:ea typeface="Calibri" panose="020F0502020204030204" pitchFamily="34" charset="0"/>
                <a:cs typeface="Calibri" panose="020F0502020204030204" pitchFamily="34" charset="0"/>
              </a:rPr>
              <a:t>counts</a:t>
            </a: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 sean menor de 50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s-ES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Variables de producto e incidencia, </a:t>
            </a:r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imputaciones cruzadas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sz="1500" i="1" dirty="0" err="1">
                <a:ea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: 111 categorías 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El top concentran mas del 90%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0" lang="es-ES" altLang="es-ES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Sub-product</a:t>
            </a:r>
            <a:r>
              <a:rPr kumimoji="0" lang="es-ES" altLang="es-E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s-ES" altLang="es-E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imputación por moda según combinación</a:t>
            </a:r>
            <a:r>
              <a:rPr kumimoji="0" lang="es-ES" altLang="es-E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 </a:t>
            </a:r>
            <a:r>
              <a:rPr kumimoji="0" lang="es-ES" altLang="es-ES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Product</a:t>
            </a:r>
            <a:r>
              <a:rPr kumimoji="0" lang="es-ES" altLang="es-E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</a:t>
            </a:r>
            <a:r>
              <a:rPr kumimoji="0" lang="es-ES" altLang="es-ES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</a:t>
            </a:r>
            <a:r>
              <a:rPr kumimoji="0" lang="es-ES" altLang="es-E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resto</a:t>
            </a:r>
            <a:r>
              <a:rPr kumimoji="0" lang="es-ES" altLang="es-E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como </a:t>
            </a:r>
            <a:r>
              <a:rPr kumimoji="0" lang="es-ES" altLang="es-ES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Unknown</a:t>
            </a:r>
            <a:r>
              <a:rPr kumimoji="0" lang="es-ES" altLang="es-E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0" lang="es-ES" altLang="es-ES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</a:t>
            </a:r>
            <a:r>
              <a:rPr kumimoji="0" lang="es-ES" altLang="es-E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89 categorías, casi completos → </a:t>
            </a:r>
            <a:r>
              <a:rPr kumimoji="0" lang="es-ES" altLang="es-E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usado como referencia </a:t>
            </a:r>
            <a:r>
              <a:rPr kumimoji="0" lang="es-ES" altLang="es-E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para imputaciones.</a:t>
            </a:r>
          </a:p>
          <a:p>
            <a:pPr marL="800100" lvl="1" indent="-342900">
              <a:buFont typeface="+mj-lt"/>
              <a:buAutoNum type="arabicPeriod"/>
            </a:pPr>
            <a:r>
              <a:rPr kumimoji="0" lang="es-ES" altLang="es-ES" sz="15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Sub-issue</a:t>
            </a:r>
            <a:r>
              <a:rPr kumimoji="0" lang="es-ES" altLang="es-E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53% nulos, redundante → </a:t>
            </a:r>
            <a:r>
              <a:rPr kumimoji="0" lang="es-ES" altLang="es-E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descartado</a:t>
            </a:r>
            <a:endParaRPr lang="es-ES" sz="1500" b="1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800100" lvl="1" indent="-342900">
              <a:buFont typeface="+mj-lt"/>
              <a:buAutoNum type="arabicPeriod"/>
            </a:pPr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354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ridge Reviews | SwitchUp">
            <a:extLst>
              <a:ext uri="{FF2B5EF4-FFF2-40B4-BE49-F238E27FC236}">
                <a16:creationId xmlns:a16="http://schemas.microsoft.com/office/drawing/2014/main" id="{08FF0535-4630-4D8E-89F6-BEFA28AC6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1 - ¿El consumidor disputara la queja?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4CAB8F-6ECF-4591-9F17-B486D5FB6CAA}"/>
              </a:ext>
            </a:extLst>
          </p:cNvPr>
          <p:cNvSpPr txBox="1"/>
          <p:nvPr/>
        </p:nvSpPr>
        <p:spPr>
          <a:xfrm>
            <a:off x="152399" y="1763815"/>
            <a:ext cx="859715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</a:rPr>
              <a:t>Objetivo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: Modelo de clasificación multiclase que prediga si un consumidor disputara la queja.</a:t>
            </a: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</a:rPr>
              <a:t>Ventajas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: Nos permite entender la percepción del cliente así como anticiparse a posibles conflictos.</a:t>
            </a: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</a:rPr>
              <a:t>Variable Objetivo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:  Clasificación de quejas en 3 categorías: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“No”: El consumidor no disputara la queja.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</a:rPr>
              <a:t>“Yes”: El consumidor disputara la queja </a:t>
            </a:r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Importante desde punto de vista de negocio</a:t>
            </a:r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s-ES" sz="1700" dirty="0" err="1">
                <a:ea typeface="Calibri" panose="020F0502020204030204" pitchFamily="34" charset="0"/>
                <a:cs typeface="Calibri" panose="020F0502020204030204" pitchFamily="34" charset="0"/>
              </a:rPr>
              <a:t>Pending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”: La disputa aún se encuentran en proceso.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Se evaluará el uso de la variable “</a:t>
            </a:r>
            <a:r>
              <a:rPr lang="es-ES" sz="1700" i="1" dirty="0" err="1">
                <a:ea typeface="Calibri" panose="020F0502020204030204" pitchFamily="34" charset="0"/>
                <a:cs typeface="Calibri" panose="020F0502020204030204" pitchFamily="34" charset="0"/>
              </a:rPr>
              <a:t>Sub-product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” así como su ausencia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792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1 - </a:t>
            </a:r>
            <a:r>
              <a:rPr lang="es-ES" sz="40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</a:t>
            </a:r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Forest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4CAB8F-6ECF-4591-9F17-B486D5FB6CAA}"/>
              </a:ext>
            </a:extLst>
          </p:cNvPr>
          <p:cNvSpPr txBox="1"/>
          <p:nvPr/>
        </p:nvSpPr>
        <p:spPr>
          <a:xfrm>
            <a:off x="0" y="1446550"/>
            <a:ext cx="859715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En términos generales observamos que la variable “</a:t>
            </a:r>
            <a:r>
              <a:rPr lang="es-ES" sz="1700" i="1" dirty="0" err="1">
                <a:ea typeface="Calibri" panose="020F0502020204030204" pitchFamily="34" charset="0"/>
                <a:cs typeface="Calibri" panose="020F0502020204030204" pitchFamily="34" charset="0"/>
              </a:rPr>
              <a:t>Sub-product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</a:rPr>
              <a:t>” favorece las métricas del modelo.</a:t>
            </a: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CF63BA57-2FFF-414A-B6DE-BA06076DF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724409"/>
              </p:ext>
            </p:extLst>
          </p:nvPr>
        </p:nvGraphicFramePr>
        <p:xfrm>
          <a:off x="349755" y="2230236"/>
          <a:ext cx="11492490" cy="2790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000">
                  <a:extLst>
                    <a:ext uri="{9D8B030D-6E8A-4147-A177-3AD203B41FA5}">
                      <a16:colId xmlns:a16="http://schemas.microsoft.com/office/drawing/2014/main" val="4185506146"/>
                    </a:ext>
                  </a:extLst>
                </a:gridCol>
                <a:gridCol w="935231">
                  <a:extLst>
                    <a:ext uri="{9D8B030D-6E8A-4147-A177-3AD203B41FA5}">
                      <a16:colId xmlns:a16="http://schemas.microsoft.com/office/drawing/2014/main" val="2027074882"/>
                    </a:ext>
                  </a:extLst>
                </a:gridCol>
                <a:gridCol w="851743">
                  <a:extLst>
                    <a:ext uri="{9D8B030D-6E8A-4147-A177-3AD203B41FA5}">
                      <a16:colId xmlns:a16="http://schemas.microsoft.com/office/drawing/2014/main" val="3633943948"/>
                    </a:ext>
                  </a:extLst>
                </a:gridCol>
                <a:gridCol w="1355678">
                  <a:extLst>
                    <a:ext uri="{9D8B030D-6E8A-4147-A177-3AD203B41FA5}">
                      <a16:colId xmlns:a16="http://schemas.microsoft.com/office/drawing/2014/main" val="4238342794"/>
                    </a:ext>
                  </a:extLst>
                </a:gridCol>
                <a:gridCol w="950019">
                  <a:extLst>
                    <a:ext uri="{9D8B030D-6E8A-4147-A177-3AD203B41FA5}">
                      <a16:colId xmlns:a16="http://schemas.microsoft.com/office/drawing/2014/main" val="4224254661"/>
                    </a:ext>
                  </a:extLst>
                </a:gridCol>
                <a:gridCol w="1247389">
                  <a:extLst>
                    <a:ext uri="{9D8B030D-6E8A-4147-A177-3AD203B41FA5}">
                      <a16:colId xmlns:a16="http://schemas.microsoft.com/office/drawing/2014/main" val="1135946765"/>
                    </a:ext>
                  </a:extLst>
                </a:gridCol>
                <a:gridCol w="1120822">
                  <a:extLst>
                    <a:ext uri="{9D8B030D-6E8A-4147-A177-3AD203B41FA5}">
                      <a16:colId xmlns:a16="http://schemas.microsoft.com/office/drawing/2014/main" val="308145910"/>
                    </a:ext>
                  </a:extLst>
                </a:gridCol>
                <a:gridCol w="3003608">
                  <a:extLst>
                    <a:ext uri="{9D8B030D-6E8A-4147-A177-3AD203B41FA5}">
                      <a16:colId xmlns:a16="http://schemas.microsoft.com/office/drawing/2014/main" val="4291229335"/>
                    </a:ext>
                  </a:extLst>
                </a:gridCol>
              </a:tblGrid>
              <a:tr h="372932">
                <a:tc>
                  <a:txBody>
                    <a:bodyPr/>
                    <a:lstStyle/>
                    <a:p>
                      <a:r>
                        <a:rPr lang="es-ES" sz="1400" dirty="0"/>
                        <a:t>Modelo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i="1" dirty="0" err="1"/>
                        <a:t>Accuracy</a:t>
                      </a:r>
                      <a:endParaRPr lang="es-ES" sz="1400" i="1" dirty="0"/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 “No”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 “</a:t>
                      </a:r>
                      <a:r>
                        <a:rPr lang="es-ES" sz="1400" dirty="0" err="1"/>
                        <a:t>Pending</a:t>
                      </a:r>
                      <a:r>
                        <a:rPr lang="es-ES" sz="1400" dirty="0"/>
                        <a:t>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 “Yes”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i="1" dirty="0"/>
                        <a:t>Recall</a:t>
                      </a:r>
                      <a:r>
                        <a:rPr lang="es-ES" sz="1400" dirty="0"/>
                        <a:t> “Yes”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AUC Score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Observaciones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256572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400" dirty="0"/>
                        <a:t>RF Inicial con </a:t>
                      </a:r>
                      <a:r>
                        <a:rPr lang="es-ES" sz="1400" dirty="0" err="1"/>
                        <a:t>subproduct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Buenas clases mayoritarias, pero “Yes” muy bajo.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593294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400" dirty="0"/>
                        <a:t>RF Inicial sin </a:t>
                      </a:r>
                      <a:r>
                        <a:rPr lang="es-ES" sz="1400" dirty="0" err="1"/>
                        <a:t>subproduct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Ligera perdida global, mejora mínima en “Yes”.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3018"/>
                  </a:ext>
                </a:extLst>
              </a:tr>
              <a:tr h="372932">
                <a:tc>
                  <a:txBody>
                    <a:bodyPr/>
                    <a:lstStyle/>
                    <a:p>
                      <a:r>
                        <a:rPr lang="es-ES" sz="1400" dirty="0"/>
                        <a:t>RF + SMOTE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 no mejora, SMOTE poco útil.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84429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400" dirty="0" err="1"/>
                        <a:t>GridSearch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Mejor detección de “Yes”. Baja </a:t>
                      </a:r>
                      <a:r>
                        <a:rPr lang="es-ES" sz="1400" i="1" dirty="0" err="1"/>
                        <a:t>accuracy</a:t>
                      </a:r>
                      <a:endParaRPr lang="es-E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088944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400" dirty="0" err="1"/>
                        <a:t>GridSearch</a:t>
                      </a:r>
                      <a:r>
                        <a:rPr lang="es-ES" sz="1400" dirty="0"/>
                        <a:t> + SMOTE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Mejora marginal del modelo anterior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589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1 - </a:t>
            </a:r>
            <a:r>
              <a:rPr lang="es-ES" sz="40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XGBoost</a:t>
            </a:r>
            <a:endParaRPr lang="es-ES" sz="40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CF63BA57-2FFF-414A-B6DE-BA06076DF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288204"/>
              </p:ext>
            </p:extLst>
          </p:nvPr>
        </p:nvGraphicFramePr>
        <p:xfrm>
          <a:off x="369841" y="2085018"/>
          <a:ext cx="11622782" cy="2790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314">
                  <a:extLst>
                    <a:ext uri="{9D8B030D-6E8A-4147-A177-3AD203B41FA5}">
                      <a16:colId xmlns:a16="http://schemas.microsoft.com/office/drawing/2014/main" val="4185506146"/>
                    </a:ext>
                  </a:extLst>
                </a:gridCol>
                <a:gridCol w="929577">
                  <a:extLst>
                    <a:ext uri="{9D8B030D-6E8A-4147-A177-3AD203B41FA5}">
                      <a16:colId xmlns:a16="http://schemas.microsoft.com/office/drawing/2014/main" val="2027074882"/>
                    </a:ext>
                  </a:extLst>
                </a:gridCol>
                <a:gridCol w="846455">
                  <a:extLst>
                    <a:ext uri="{9D8B030D-6E8A-4147-A177-3AD203B41FA5}">
                      <a16:colId xmlns:a16="http://schemas.microsoft.com/office/drawing/2014/main" val="3633943948"/>
                    </a:ext>
                  </a:extLst>
                </a:gridCol>
                <a:gridCol w="1259523">
                  <a:extLst>
                    <a:ext uri="{9D8B030D-6E8A-4147-A177-3AD203B41FA5}">
                      <a16:colId xmlns:a16="http://schemas.microsoft.com/office/drawing/2014/main" val="4238342794"/>
                    </a:ext>
                  </a:extLst>
                </a:gridCol>
                <a:gridCol w="876046">
                  <a:extLst>
                    <a:ext uri="{9D8B030D-6E8A-4147-A177-3AD203B41FA5}">
                      <a16:colId xmlns:a16="http://schemas.microsoft.com/office/drawing/2014/main" val="4224254661"/>
                    </a:ext>
                  </a:extLst>
                </a:gridCol>
                <a:gridCol w="1159129">
                  <a:extLst>
                    <a:ext uri="{9D8B030D-6E8A-4147-A177-3AD203B41FA5}">
                      <a16:colId xmlns:a16="http://schemas.microsoft.com/office/drawing/2014/main" val="1135946765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308145910"/>
                    </a:ext>
                  </a:extLst>
                </a:gridCol>
                <a:gridCol w="3003608">
                  <a:extLst>
                    <a:ext uri="{9D8B030D-6E8A-4147-A177-3AD203B41FA5}">
                      <a16:colId xmlns:a16="http://schemas.microsoft.com/office/drawing/2014/main" val="4291229335"/>
                    </a:ext>
                  </a:extLst>
                </a:gridCol>
              </a:tblGrid>
              <a:tr h="372932">
                <a:tc>
                  <a:txBody>
                    <a:bodyPr/>
                    <a:lstStyle/>
                    <a:p>
                      <a:r>
                        <a:rPr lang="es-ES" sz="1500" dirty="0"/>
                        <a:t>Modelo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 i="1" dirty="0" err="1"/>
                        <a:t>Accuracy</a:t>
                      </a:r>
                      <a:endParaRPr lang="es-ES" sz="1500" i="1" dirty="0"/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F1 “No”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F1 “</a:t>
                      </a:r>
                      <a:r>
                        <a:rPr lang="es-ES" sz="1500" dirty="0" err="1"/>
                        <a:t>Pending</a:t>
                      </a:r>
                      <a:r>
                        <a:rPr lang="es-ES" sz="1500" dirty="0"/>
                        <a:t>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F1 “Yes”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 i="1" dirty="0"/>
                        <a:t>Recall</a:t>
                      </a:r>
                      <a:r>
                        <a:rPr lang="es-ES" sz="1500" dirty="0"/>
                        <a:t> “Yes”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AUC Score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Observaciones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256572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500" dirty="0" err="1"/>
                        <a:t>XGBoost</a:t>
                      </a:r>
                      <a:r>
                        <a:rPr lang="es-ES" sz="1500" dirty="0"/>
                        <a:t> </a:t>
                      </a:r>
                      <a:r>
                        <a:rPr lang="es-ES" sz="1500" dirty="0" err="1"/>
                        <a:t>Baseline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Excelente para las clases mayoritarias, pero “Yes” no es detectada.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593294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500" dirty="0" err="1"/>
                        <a:t>XGBoost</a:t>
                      </a:r>
                      <a:r>
                        <a:rPr lang="es-ES" sz="1500" dirty="0"/>
                        <a:t> ajuste de pesos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Gran mejora en “Yes” pero con caída fuerte en “No” así como en la exactitud global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3018"/>
                  </a:ext>
                </a:extLst>
              </a:tr>
              <a:tr h="372932">
                <a:tc>
                  <a:txBody>
                    <a:bodyPr/>
                    <a:lstStyle/>
                    <a:p>
                      <a:r>
                        <a:rPr lang="es-ES" sz="1500" dirty="0" err="1"/>
                        <a:t>XGBoost</a:t>
                      </a:r>
                      <a:r>
                        <a:rPr lang="es-ES" sz="1500" dirty="0"/>
                        <a:t> </a:t>
                      </a:r>
                      <a:r>
                        <a:rPr lang="es-ES" sz="1500" dirty="0" err="1"/>
                        <a:t>GridSearch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F1 no mejora, SMOTE poco útil.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84429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500" dirty="0" err="1"/>
                        <a:t>XGBoost</a:t>
                      </a:r>
                      <a:r>
                        <a:rPr lang="es-ES" sz="1500" dirty="0"/>
                        <a:t> </a:t>
                      </a:r>
                      <a:r>
                        <a:rPr lang="es-ES" sz="1500" dirty="0" err="1"/>
                        <a:t>GridSearch</a:t>
                      </a:r>
                      <a:r>
                        <a:rPr lang="es-ES" sz="1500" dirty="0"/>
                        <a:t> + SMOTE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0,80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No hay cambios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08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93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ridge Reviews | SwitchUp">
            <a:extLst>
              <a:ext uri="{FF2B5EF4-FFF2-40B4-BE49-F238E27FC236}">
                <a16:creationId xmlns:a16="http://schemas.microsoft.com/office/drawing/2014/main" id="{08FF0535-4630-4D8E-89F6-BEFA28AC6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1 - Análisis comparativo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4CAB8F-6ECF-4591-9F17-B486D5FB6CAA}"/>
              </a:ext>
            </a:extLst>
          </p:cNvPr>
          <p:cNvSpPr txBox="1"/>
          <p:nvPr/>
        </p:nvSpPr>
        <p:spPr>
          <a:xfrm>
            <a:off x="62753" y="1704522"/>
            <a:ext cx="862984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</a:rPr>
              <a:t>Modelo con </a:t>
            </a:r>
            <a:r>
              <a:rPr lang="es-ES" b="1" dirty="0">
                <a:ea typeface="Calibri" panose="020F0502020204030204" pitchFamily="34" charset="0"/>
                <a:cs typeface="Calibri" panose="020F0502020204030204" pitchFamily="34" charset="0"/>
              </a:rPr>
              <a:t>mejor exactitud 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</a:rPr>
              <a:t>global 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XGBoost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Baseline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(0,84)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Problema: </a:t>
            </a:r>
            <a:r>
              <a:rPr lang="es-ES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No identifica 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casos de reclamación “</a:t>
            </a:r>
            <a:r>
              <a:rPr lang="es-ES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Yes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” , ya que tiene un </a:t>
            </a:r>
            <a:r>
              <a:rPr lang="es-ES" i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recall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de 0.04</a:t>
            </a:r>
          </a:p>
          <a:p>
            <a:pPr lvl="1"/>
            <a:endParaRPr lang="es-ES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/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Modelo </a:t>
            </a:r>
            <a:r>
              <a:rPr lang="es-ES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mas equilibrado 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XGBoost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con </a:t>
            </a:r>
            <a:r>
              <a:rPr lang="es-ES" i="1" dirty="0" err="1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GridSearch</a:t>
            </a:r>
            <a:endParaRPr lang="es-ES" i="1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Mas </a:t>
            </a:r>
            <a:r>
              <a:rPr lang="es-ES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confiable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en términos globales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Problema: </a:t>
            </a:r>
            <a:r>
              <a:rPr lang="es-ES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Sacrifica algo de </a:t>
            </a:r>
            <a:r>
              <a:rPr lang="es-ES" b="1" i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recall</a:t>
            </a:r>
            <a:r>
              <a:rPr lang="es-ES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en “Yes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”</a:t>
            </a:r>
          </a:p>
          <a:p>
            <a:pPr lvl="1"/>
            <a:endParaRPr lang="es-ES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/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Modelo que </a:t>
            </a:r>
            <a:r>
              <a:rPr lang="es-ES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mejor consigue detectar reclamaciones 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XGBoost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con ajuste de pesos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Eleva el </a:t>
            </a:r>
            <a:r>
              <a:rPr lang="es-ES" i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recall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de “Yes” hasta 0,54 y una F1-Score para esta clase de 0,34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Enfoque adecuado si la prioridad es no dejar escapar reclamaciones </a:t>
            </a:r>
            <a:r>
              <a:rPr lang="es-ES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incluso a costa de falsos positivos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700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/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235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2 - ¿La queja será respondida a tiempo?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4CAB8F-6ECF-4591-9F17-B486D5FB6CAA}"/>
              </a:ext>
            </a:extLst>
          </p:cNvPr>
          <p:cNvSpPr txBox="1"/>
          <p:nvPr/>
        </p:nvSpPr>
        <p:spPr>
          <a:xfrm>
            <a:off x="1488141" y="1200328"/>
            <a:ext cx="859715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1600" b="1" dirty="0">
                <a:ea typeface="Calibri" panose="020F0502020204030204" pitchFamily="34" charset="0"/>
                <a:cs typeface="Calibri" panose="020F0502020204030204" pitchFamily="34" charset="0"/>
              </a:rPr>
              <a:t>Objetivo</a:t>
            </a:r>
            <a:r>
              <a:rPr lang="es-ES" sz="1600" dirty="0">
                <a:ea typeface="Calibri" panose="020F0502020204030204" pitchFamily="34" charset="0"/>
                <a:cs typeface="Calibri" panose="020F0502020204030204" pitchFamily="34" charset="0"/>
              </a:rPr>
              <a:t>: Modelo de clasificación binaria que prediga si la queja será respondida a tiempo</a:t>
            </a:r>
          </a:p>
          <a:p>
            <a:pPr lvl="1"/>
            <a:endParaRPr lang="es-E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ES" sz="1600" dirty="0">
                <a:ea typeface="Calibri" panose="020F0502020204030204" pitchFamily="34" charset="0"/>
                <a:cs typeface="Calibri" panose="020F0502020204030204" pitchFamily="34" charset="0"/>
              </a:rPr>
              <a:t>Ventajas: </a:t>
            </a:r>
            <a:r>
              <a:rPr lang="es-ES" sz="1600" b="1" dirty="0">
                <a:ea typeface="Calibri" panose="020F0502020204030204" pitchFamily="34" charset="0"/>
                <a:cs typeface="Calibri" panose="020F0502020204030204" pitchFamily="34" charset="0"/>
              </a:rPr>
              <a:t>Anticipar el cumplimiento de los tiempos de respuesta</a:t>
            </a:r>
            <a:r>
              <a:rPr lang="es-ES" sz="1600" dirty="0">
                <a:ea typeface="Calibri" panose="020F0502020204030204" pitchFamily="34" charset="0"/>
                <a:cs typeface="Calibri" panose="020F0502020204030204" pitchFamily="34" charset="0"/>
              </a:rPr>
              <a:t>, para mejorar la experiencia del cliente así como la gestión interna de la empresa en cuestión </a:t>
            </a:r>
            <a:r>
              <a:rPr lang="es-ES" sz="16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Identificar los “No”</a:t>
            </a:r>
            <a:endParaRPr lang="es-ES" sz="16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E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a 2">
            <a:extLst>
              <a:ext uri="{FF2B5EF4-FFF2-40B4-BE49-F238E27FC236}">
                <a16:creationId xmlns:a16="http://schemas.microsoft.com/office/drawing/2014/main" id="{D2B86DD5-ECFB-4331-9BC2-BACA47DCD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081014"/>
              </p:ext>
            </p:extLst>
          </p:nvPr>
        </p:nvGraphicFramePr>
        <p:xfrm>
          <a:off x="442531" y="2344040"/>
          <a:ext cx="11492830" cy="3335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764">
                  <a:extLst>
                    <a:ext uri="{9D8B030D-6E8A-4147-A177-3AD203B41FA5}">
                      <a16:colId xmlns:a16="http://schemas.microsoft.com/office/drawing/2014/main" val="4185506146"/>
                    </a:ext>
                  </a:extLst>
                </a:gridCol>
                <a:gridCol w="931697">
                  <a:extLst>
                    <a:ext uri="{9D8B030D-6E8A-4147-A177-3AD203B41FA5}">
                      <a16:colId xmlns:a16="http://schemas.microsoft.com/office/drawing/2014/main" val="2027074882"/>
                    </a:ext>
                  </a:extLst>
                </a:gridCol>
                <a:gridCol w="848525">
                  <a:extLst>
                    <a:ext uri="{9D8B030D-6E8A-4147-A177-3AD203B41FA5}">
                      <a16:colId xmlns:a16="http://schemas.microsoft.com/office/drawing/2014/main" val="3633943948"/>
                    </a:ext>
                  </a:extLst>
                </a:gridCol>
                <a:gridCol w="798975">
                  <a:extLst>
                    <a:ext uri="{9D8B030D-6E8A-4147-A177-3AD203B41FA5}">
                      <a16:colId xmlns:a16="http://schemas.microsoft.com/office/drawing/2014/main" val="4238342794"/>
                    </a:ext>
                  </a:extLst>
                </a:gridCol>
                <a:gridCol w="1066673">
                  <a:extLst>
                    <a:ext uri="{9D8B030D-6E8A-4147-A177-3AD203B41FA5}">
                      <a16:colId xmlns:a16="http://schemas.microsoft.com/office/drawing/2014/main" val="4224254661"/>
                    </a:ext>
                  </a:extLst>
                </a:gridCol>
                <a:gridCol w="907796">
                  <a:extLst>
                    <a:ext uri="{9D8B030D-6E8A-4147-A177-3AD203B41FA5}">
                      <a16:colId xmlns:a16="http://schemas.microsoft.com/office/drawing/2014/main" val="1135946765"/>
                    </a:ext>
                  </a:extLst>
                </a:gridCol>
                <a:gridCol w="1172464">
                  <a:extLst>
                    <a:ext uri="{9D8B030D-6E8A-4147-A177-3AD203B41FA5}">
                      <a16:colId xmlns:a16="http://schemas.microsoft.com/office/drawing/2014/main" val="308145910"/>
                    </a:ext>
                  </a:extLst>
                </a:gridCol>
                <a:gridCol w="852678">
                  <a:extLst>
                    <a:ext uri="{9D8B030D-6E8A-4147-A177-3AD203B41FA5}">
                      <a16:colId xmlns:a16="http://schemas.microsoft.com/office/drawing/2014/main" val="1527484656"/>
                    </a:ext>
                  </a:extLst>
                </a:gridCol>
                <a:gridCol w="2992258">
                  <a:extLst>
                    <a:ext uri="{9D8B030D-6E8A-4147-A177-3AD203B41FA5}">
                      <a16:colId xmlns:a16="http://schemas.microsoft.com/office/drawing/2014/main" val="4291229335"/>
                    </a:ext>
                  </a:extLst>
                </a:gridCol>
              </a:tblGrid>
              <a:tr h="318478">
                <a:tc>
                  <a:txBody>
                    <a:bodyPr/>
                    <a:lstStyle/>
                    <a:p>
                      <a:r>
                        <a:rPr lang="es-ES" sz="1400" dirty="0"/>
                        <a:t>Modelo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i="1" dirty="0" err="1"/>
                        <a:t>Accuracy</a:t>
                      </a:r>
                      <a:endParaRPr lang="es-ES" sz="1400" i="1" dirty="0"/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 “Yes”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 “No”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i="1" dirty="0"/>
                        <a:t>Recall</a:t>
                      </a:r>
                      <a:r>
                        <a:rPr lang="es-ES" sz="1400" dirty="0"/>
                        <a:t> “No”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Macro F1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Macro </a:t>
                      </a:r>
                      <a:r>
                        <a:rPr lang="es-ES" sz="1400" i="1" dirty="0"/>
                        <a:t>Recall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ROC </a:t>
                      </a:r>
                      <a:r>
                        <a:rPr lang="es-ES" sz="1400" dirty="0" err="1"/>
                        <a:t>Auc</a:t>
                      </a:r>
                      <a:endParaRPr lang="es-ES" sz="1400" dirty="0"/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Observaciones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256572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400" dirty="0"/>
                        <a:t>RF </a:t>
                      </a:r>
                      <a:r>
                        <a:rPr lang="es-ES" sz="1400" dirty="0" err="1"/>
                        <a:t>Baseline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Muy buen desempeño global, pero falla en la minoritaria “No”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593294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400" dirty="0"/>
                        <a:t>RF </a:t>
                      </a:r>
                      <a:r>
                        <a:rPr lang="es-ES" sz="1400" dirty="0" err="1"/>
                        <a:t>GridSearch</a:t>
                      </a:r>
                      <a:r>
                        <a:rPr lang="es-ES" sz="1400" dirty="0"/>
                        <a:t> + SMOTE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Mejora de marginal de “No” gracias a SMOTE y </a:t>
                      </a:r>
                      <a:r>
                        <a:rPr lang="es-ES" sz="1400" dirty="0" err="1"/>
                        <a:t>hiperparametrización</a:t>
                      </a:r>
                      <a:r>
                        <a:rPr lang="es-ES" sz="1400" dirty="0"/>
                        <a:t>, equilibrando clases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3018"/>
                  </a:ext>
                </a:extLst>
              </a:tr>
              <a:tr h="372932">
                <a:tc>
                  <a:txBody>
                    <a:bodyPr/>
                    <a:lstStyle/>
                    <a:p>
                      <a:r>
                        <a:rPr lang="es-ES" sz="1400" dirty="0" err="1"/>
                        <a:t>XGBoost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GridSearch</a:t>
                      </a:r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0,986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0,99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0,63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0,46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0,81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Excelente en mayoritaria, falla algo en la minoritaria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684429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400" dirty="0" err="1"/>
                        <a:t>XGBoost</a:t>
                      </a:r>
                      <a:r>
                        <a:rPr lang="es-ES" sz="1400" dirty="0"/>
                        <a:t> – ajuste de pesos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0,64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0,24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0,67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0,59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Mejor detección de “Yes”, sacrifica precisión y </a:t>
                      </a:r>
                      <a:r>
                        <a:rPr lang="es-ES" sz="1400" i="1" dirty="0"/>
                        <a:t>recall</a:t>
                      </a:r>
                      <a:r>
                        <a:rPr lang="es-ES" sz="1400" dirty="0"/>
                        <a:t> de no (</a:t>
                      </a:r>
                      <a:r>
                        <a:rPr lang="es-ES" sz="1400" dirty="0" err="1"/>
                        <a:t>sobreprediccion</a:t>
                      </a:r>
                      <a:r>
                        <a:rPr lang="es-ES" sz="1400" dirty="0"/>
                        <a:t>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088944"/>
                  </a:ext>
                </a:extLst>
              </a:tr>
              <a:tr h="490432">
                <a:tc>
                  <a:txBody>
                    <a:bodyPr/>
                    <a:lstStyle/>
                    <a:p>
                      <a:r>
                        <a:rPr lang="es-ES" sz="1400" dirty="0" err="1"/>
                        <a:t>XGBoost</a:t>
                      </a:r>
                      <a:r>
                        <a:rPr lang="es-ES" sz="1400" dirty="0"/>
                        <a:t> + </a:t>
                      </a:r>
                      <a:r>
                        <a:rPr lang="es-ES" sz="1400" dirty="0" err="1"/>
                        <a:t>GridSearch</a:t>
                      </a:r>
                      <a:r>
                        <a:rPr lang="es-ES" sz="1400" dirty="0"/>
                        <a:t>+ SMOTE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0,986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0,63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0,46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0,81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0,73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0,91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Sin cambios respecto a </a:t>
                      </a:r>
                      <a:r>
                        <a:rPr lang="es-ES" sz="1400" dirty="0" err="1"/>
                        <a:t>Baseline</a:t>
                      </a:r>
                      <a:endParaRPr lang="es-ES" sz="1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871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400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ridge Reviews | SwitchUp">
            <a:extLst>
              <a:ext uri="{FF2B5EF4-FFF2-40B4-BE49-F238E27FC236}">
                <a16:creationId xmlns:a16="http://schemas.microsoft.com/office/drawing/2014/main" id="{08FF0535-4630-4D8E-89F6-BEFA28AC6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2 - Análisis comparativo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4CAB8F-6ECF-4591-9F17-B486D5FB6CAA}"/>
              </a:ext>
            </a:extLst>
          </p:cNvPr>
          <p:cNvSpPr txBox="1"/>
          <p:nvPr/>
        </p:nvSpPr>
        <p:spPr>
          <a:xfrm>
            <a:off x="0" y="1383797"/>
            <a:ext cx="8629849" cy="4824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1600" dirty="0"/>
              <a:t>Modelo de </a:t>
            </a:r>
            <a:r>
              <a:rPr lang="es-ES" sz="1600" b="1" dirty="0" err="1"/>
              <a:t>Random</a:t>
            </a:r>
            <a:r>
              <a:rPr lang="es-ES" sz="1600" b="1" dirty="0"/>
              <a:t> Forest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r>
              <a:rPr lang="es-ES" sz="1600" b="1" dirty="0"/>
              <a:t>Fiables para predecir respuestas a tiempo </a:t>
            </a:r>
            <a:r>
              <a:rPr lang="es-ES" sz="1600" dirty="0"/>
              <a:t>pero no excepciones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Buen desempeño en la clase mayoritaria “Yes” pero no detectan bien “No”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SMOTE 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r>
              <a:rPr lang="es-ES" sz="1600" dirty="0"/>
              <a:t>Mejora marginal el </a:t>
            </a:r>
            <a:r>
              <a:rPr lang="es-ES" sz="1600" i="1" dirty="0"/>
              <a:t>recall</a:t>
            </a:r>
            <a:r>
              <a:rPr lang="es-ES" sz="1600" dirty="0"/>
              <a:t> aunque no suficiente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lvl="1"/>
            <a:r>
              <a:rPr lang="es-ES" sz="1600" dirty="0"/>
              <a:t>Modelo </a:t>
            </a:r>
            <a:r>
              <a:rPr lang="es-ES" sz="1600" b="1" dirty="0"/>
              <a:t>mas equilibrado </a:t>
            </a:r>
            <a:r>
              <a:rPr lang="es-ES" sz="1600" dirty="0">
                <a:sym typeface="Wingdings" panose="05000000000000000000" pitchFamily="2" charset="2"/>
              </a:rPr>
              <a:t> </a:t>
            </a:r>
            <a:r>
              <a:rPr lang="es-ES" sz="1600" dirty="0" err="1"/>
              <a:t>XGBoost</a:t>
            </a:r>
            <a:r>
              <a:rPr lang="es-ES" sz="1600" dirty="0"/>
              <a:t> con </a:t>
            </a:r>
            <a:r>
              <a:rPr lang="es-ES" sz="1600" i="1" dirty="0" err="1"/>
              <a:t>GridSearch</a:t>
            </a:r>
            <a:r>
              <a:rPr lang="es-ES" sz="16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Mejor capacidad discriminativa y precisión perfecta en “No”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Problema</a:t>
            </a:r>
            <a:r>
              <a:rPr lang="es-ES" sz="1600" dirty="0"/>
              <a:t>: </a:t>
            </a:r>
            <a:r>
              <a:rPr lang="es-ES" sz="1600" b="1" i="1" dirty="0"/>
              <a:t>Recall</a:t>
            </a:r>
            <a:r>
              <a:rPr lang="es-ES" sz="1600" b="1" dirty="0"/>
              <a:t> bajo </a:t>
            </a:r>
            <a:r>
              <a:rPr lang="es-ES" sz="1600" dirty="0"/>
              <a:t>en “No”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r>
              <a:rPr lang="es-ES" sz="1600" dirty="0"/>
              <a:t>Se </a:t>
            </a:r>
            <a:r>
              <a:rPr lang="es-ES" sz="1600" b="1" dirty="0"/>
              <a:t>escapan la mitad</a:t>
            </a:r>
            <a:r>
              <a:rPr lang="es-ES" sz="1600" dirty="0"/>
              <a:t> de los retrasos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SMOTE no mejora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lvl="1"/>
            <a:r>
              <a:rPr lang="es-ES" sz="1600" dirty="0"/>
              <a:t>Mejor modelo </a:t>
            </a:r>
            <a:r>
              <a:rPr lang="es-ES" sz="1600" b="1" dirty="0"/>
              <a:t>desde perspectiva de negocio </a:t>
            </a:r>
            <a:r>
              <a:rPr lang="es-ES" sz="1600" dirty="0">
                <a:sym typeface="Wingdings" panose="05000000000000000000" pitchFamily="2" charset="2"/>
              </a:rPr>
              <a:t> </a:t>
            </a:r>
            <a:r>
              <a:rPr lang="es-ES" sz="1600" dirty="0" err="1"/>
              <a:t>XGBoost</a:t>
            </a:r>
            <a:r>
              <a:rPr lang="es-ES" sz="1600" dirty="0"/>
              <a:t> con ajuste de pesos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i="1" dirty="0"/>
              <a:t>Recall</a:t>
            </a:r>
            <a:r>
              <a:rPr lang="es-ES" sz="1600" dirty="0"/>
              <a:t> de “No” hasta 0,64 aunque mayor falsos positivos, caída en exactitud global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Enfoque adecuado si la prioridad tomar acciones preventivas </a:t>
            </a:r>
            <a:r>
              <a:rPr lang="es-ES" sz="1600" b="1" dirty="0" err="1"/>
              <a:t>maxificando</a:t>
            </a:r>
            <a:r>
              <a:rPr lang="es-ES" sz="1600" b="1" dirty="0"/>
              <a:t> la detección de retrasos</a:t>
            </a:r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682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3 - ¿En cuantos días será procesada la queja?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4CAB8F-6ECF-4591-9F17-B486D5FB6CAA}"/>
              </a:ext>
            </a:extLst>
          </p:cNvPr>
          <p:cNvSpPr txBox="1"/>
          <p:nvPr/>
        </p:nvSpPr>
        <p:spPr>
          <a:xfrm>
            <a:off x="1449295" y="1200329"/>
            <a:ext cx="859715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Objetivo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: Predecir el tiempo medio de procesamiento de la queja (en días) por parte de la</a:t>
            </a:r>
          </a:p>
          <a:p>
            <a:pPr lvl="1"/>
            <a:r>
              <a:rPr lang="es-ES" sz="1500" dirty="0">
                <a:sym typeface="Wingdings" panose="05000000000000000000" pitchFamily="2" charset="2"/>
              </a:rPr>
              <a:t>CFPC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endParaRPr lang="es-ES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Ventajas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: Nos permite agilizar el tramite de las quejas para el beneficio del consumidor, por medio de una estimación cuantitativa. </a:t>
            </a:r>
          </a:p>
          <a:p>
            <a:pPr lvl="1"/>
            <a:endParaRPr lang="es-ES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ES" sz="1500" b="1" dirty="0">
                <a:ea typeface="Calibri" panose="020F0502020204030204" pitchFamily="34" charset="0"/>
                <a:cs typeface="Calibri" panose="020F0502020204030204" pitchFamily="34" charset="0"/>
              </a:rPr>
              <a:t>PROBLEMA</a:t>
            </a:r>
            <a:r>
              <a:rPr lang="es-ES" sz="1500" dirty="0">
                <a:ea typeface="Calibri" panose="020F0502020204030204" pitchFamily="34" charset="0"/>
                <a:cs typeface="Calibri" panose="020F0502020204030204" pitchFamily="34" charset="0"/>
              </a:rPr>
              <a:t>: Se intenta un modelo de regresión lineal, pero debido a la distribución altamente asimétrica de la variable hace que los modelos tiendan a subestimar los casos largos y no capturen la variabilidad real</a:t>
            </a: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9275CAAC-E1D1-4CE4-AA60-54CC25A54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112260"/>
              </p:ext>
            </p:extLst>
          </p:nvPr>
        </p:nvGraphicFramePr>
        <p:xfrm>
          <a:off x="1191800" y="3321654"/>
          <a:ext cx="10274564" cy="302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262">
                  <a:extLst>
                    <a:ext uri="{9D8B030D-6E8A-4147-A177-3AD203B41FA5}">
                      <a16:colId xmlns:a16="http://schemas.microsoft.com/office/drawing/2014/main" val="1296362876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1769559236"/>
                    </a:ext>
                  </a:extLst>
                </a:gridCol>
                <a:gridCol w="731762">
                  <a:extLst>
                    <a:ext uri="{9D8B030D-6E8A-4147-A177-3AD203B41FA5}">
                      <a16:colId xmlns:a16="http://schemas.microsoft.com/office/drawing/2014/main" val="2134680780"/>
                    </a:ext>
                  </a:extLst>
                </a:gridCol>
                <a:gridCol w="829007">
                  <a:extLst>
                    <a:ext uri="{9D8B030D-6E8A-4147-A177-3AD203B41FA5}">
                      <a16:colId xmlns:a16="http://schemas.microsoft.com/office/drawing/2014/main" val="604710144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055684155"/>
                    </a:ext>
                  </a:extLst>
                </a:gridCol>
                <a:gridCol w="5293748">
                  <a:extLst>
                    <a:ext uri="{9D8B030D-6E8A-4147-A177-3AD203B41FA5}">
                      <a16:colId xmlns:a16="http://schemas.microsoft.com/office/drawing/2014/main" val="417014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200" dirty="0"/>
                        <a:t>Modelo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Variable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MAE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RMSE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  <a:endParaRPr lang="es-ES" sz="1200" b="1" baseline="0" dirty="0"/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Observaciones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601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/>
                        <a:t>Regresion</a:t>
                      </a:r>
                      <a:r>
                        <a:rPr lang="es-ES" sz="1200" dirty="0"/>
                        <a:t> Lineal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3,12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5,18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0,0937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Captura muy poca variabilidad; subestima valores altos; distribución de errores asimétrica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043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/>
                        <a:t>RF </a:t>
                      </a:r>
                      <a:r>
                        <a:rPr lang="es-ES" sz="1200" dirty="0" err="1"/>
                        <a:t>Regressor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3,10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5,14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0,1042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Ligera mejora; predicciones concentradas en valores bajos; sigue sin capturar extremos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33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/>
                        <a:t>XGBoost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Regressor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2,74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5,45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-0,0048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Mejor MAE, pero RMSE alto; R² negativo; subestima tiempos largos; sesgo hacia promedio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25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/>
                        <a:t>Regresión Lineal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Logarítmica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2,76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5,49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-0,018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Cambio de escala no mejora; sigue sin explicar variabilidad; subestima extremos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478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/>
                        <a:t>RF </a:t>
                      </a:r>
                      <a:r>
                        <a:rPr lang="es-ES" sz="1200" dirty="0" err="1"/>
                        <a:t>Regressor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Logarítmica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2,75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5,48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-0,0137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Mayor flexibilidad no ayuda; errores y R² similares a la lineal; predicciones concentradas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63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/>
                        <a:t>XGBoost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Regressor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Logarítmica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2,74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5,45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-0,0048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No mejora significativamente; sigue sin capturar patrones extremos; limitación por variables disponibles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734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889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3 – Cambio a modelo de clasificación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4CAB8F-6ECF-4591-9F17-B486D5FB6CAA}"/>
              </a:ext>
            </a:extLst>
          </p:cNvPr>
          <p:cNvSpPr txBox="1"/>
          <p:nvPr/>
        </p:nvSpPr>
        <p:spPr>
          <a:xfrm>
            <a:off x="152399" y="2190056"/>
            <a:ext cx="9439529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</a:rPr>
              <a:t>Cambio de enfoque: </a:t>
            </a:r>
            <a:r>
              <a:rPr lang="es-ES" sz="2000" b="1" dirty="0">
                <a:ea typeface="Calibri" panose="020F0502020204030204" pitchFamily="34" charset="0"/>
                <a:cs typeface="Calibri" panose="020F0502020204030204" pitchFamily="34" charset="0"/>
              </a:rPr>
              <a:t>Cambio</a:t>
            </a: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s-ES" sz="2000" b="1" dirty="0">
                <a:ea typeface="Calibri" panose="020F0502020204030204" pitchFamily="34" charset="0"/>
                <a:cs typeface="Calibri" panose="020F0502020204030204" pitchFamily="34" charset="0"/>
              </a:rPr>
              <a:t>modelo de clasificación multiclase </a:t>
            </a: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Para ello creación de una nueva variable “</a:t>
            </a:r>
            <a:r>
              <a:rPr lang="es-ES" sz="2000" dirty="0" err="1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Delay_class</a:t>
            </a: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”</a:t>
            </a: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endParaRPr lang="es-ES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s-ES" sz="2000" b="1" dirty="0">
                <a:ea typeface="Calibri" panose="020F0502020204030204" pitchFamily="34" charset="0"/>
                <a:cs typeface="Calibri" panose="020F0502020204030204" pitchFamily="34" charset="0"/>
              </a:rPr>
              <a:t>Agrupación</a:t>
            </a: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</a:rPr>
              <a:t> los tiempo de resolución en </a:t>
            </a:r>
            <a:r>
              <a:rPr lang="es-ES" sz="2000" b="1" dirty="0">
                <a:ea typeface="Calibri" panose="020F0502020204030204" pitchFamily="34" charset="0"/>
                <a:cs typeface="Calibri" panose="020F0502020204030204" pitchFamily="34" charset="0"/>
              </a:rPr>
              <a:t>3 clases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</a:rPr>
              <a:t>Quejas procesadas </a:t>
            </a:r>
            <a:r>
              <a:rPr lang="es-ES" sz="2000" b="1" dirty="0">
                <a:ea typeface="Calibri" panose="020F0502020204030204" pitchFamily="34" charset="0"/>
                <a:cs typeface="Calibri" panose="020F0502020204030204" pitchFamily="34" charset="0"/>
              </a:rPr>
              <a:t>rápidamente</a:t>
            </a: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</a:rPr>
              <a:t> (0-3 Días)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</a:rPr>
              <a:t>Retraso </a:t>
            </a:r>
            <a:r>
              <a:rPr lang="es-ES" sz="2000" b="1" dirty="0">
                <a:ea typeface="Calibri" panose="020F0502020204030204" pitchFamily="34" charset="0"/>
                <a:cs typeface="Calibri" panose="020F0502020204030204" pitchFamily="34" charset="0"/>
              </a:rPr>
              <a:t>moderado</a:t>
            </a: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</a:rPr>
              <a:t> (4-14 días)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</a:rPr>
              <a:t>Retraso </a:t>
            </a:r>
            <a:r>
              <a:rPr lang="es-ES" sz="2000" b="1" dirty="0">
                <a:ea typeface="Calibri" panose="020F0502020204030204" pitchFamily="34" charset="0"/>
                <a:cs typeface="Calibri" panose="020F0502020204030204" pitchFamily="34" charset="0"/>
              </a:rPr>
              <a:t>prolongado</a:t>
            </a:r>
            <a:r>
              <a:rPr lang="es-ES" sz="2000" dirty="0">
                <a:ea typeface="Calibri" panose="020F0502020204030204" pitchFamily="34" charset="0"/>
                <a:cs typeface="Calibri" panose="020F0502020204030204" pitchFamily="34" charset="0"/>
              </a:rPr>
              <a:t> (mas de 14 días)</a:t>
            </a:r>
          </a:p>
        </p:txBody>
      </p:sp>
      <p:pic>
        <p:nvPicPr>
          <p:cNvPr id="8" name="Picture 6" descr="The Bridge Reviews | SwitchUp">
            <a:extLst>
              <a:ext uri="{FF2B5EF4-FFF2-40B4-BE49-F238E27FC236}">
                <a16:creationId xmlns:a16="http://schemas.microsoft.com/office/drawing/2014/main" id="{0F37EE4C-C4B9-45F9-A3DC-F941FA592A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299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3 – Rendimientos de los modelos</a:t>
            </a:r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67DCA349-C180-4625-840E-F44822F0F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263583"/>
              </p:ext>
            </p:extLst>
          </p:nvPr>
        </p:nvGraphicFramePr>
        <p:xfrm>
          <a:off x="152399" y="4066103"/>
          <a:ext cx="11904025" cy="162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332">
                  <a:extLst>
                    <a:ext uri="{9D8B030D-6E8A-4147-A177-3AD203B41FA5}">
                      <a16:colId xmlns:a16="http://schemas.microsoft.com/office/drawing/2014/main" val="3475050972"/>
                    </a:ext>
                  </a:extLst>
                </a:gridCol>
                <a:gridCol w="880618">
                  <a:extLst>
                    <a:ext uri="{9D8B030D-6E8A-4147-A177-3AD203B41FA5}">
                      <a16:colId xmlns:a16="http://schemas.microsoft.com/office/drawing/2014/main" val="2094644419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1605686705"/>
                    </a:ext>
                  </a:extLst>
                </a:gridCol>
                <a:gridCol w="1252093">
                  <a:extLst>
                    <a:ext uri="{9D8B030D-6E8A-4147-A177-3AD203B41FA5}">
                      <a16:colId xmlns:a16="http://schemas.microsoft.com/office/drawing/2014/main" val="1088461513"/>
                    </a:ext>
                  </a:extLst>
                </a:gridCol>
                <a:gridCol w="1333373">
                  <a:extLst>
                    <a:ext uri="{9D8B030D-6E8A-4147-A177-3AD203B41FA5}">
                      <a16:colId xmlns:a16="http://schemas.microsoft.com/office/drawing/2014/main" val="1823365366"/>
                    </a:ext>
                  </a:extLst>
                </a:gridCol>
                <a:gridCol w="907796">
                  <a:extLst>
                    <a:ext uri="{9D8B030D-6E8A-4147-A177-3AD203B41FA5}">
                      <a16:colId xmlns:a16="http://schemas.microsoft.com/office/drawing/2014/main" val="3490720839"/>
                    </a:ext>
                  </a:extLst>
                </a:gridCol>
                <a:gridCol w="889318">
                  <a:extLst>
                    <a:ext uri="{9D8B030D-6E8A-4147-A177-3AD203B41FA5}">
                      <a16:colId xmlns:a16="http://schemas.microsoft.com/office/drawing/2014/main" val="250822332"/>
                    </a:ext>
                  </a:extLst>
                </a:gridCol>
                <a:gridCol w="3245227">
                  <a:extLst>
                    <a:ext uri="{9D8B030D-6E8A-4147-A177-3AD203B41FA5}">
                      <a16:colId xmlns:a16="http://schemas.microsoft.com/office/drawing/2014/main" val="1313308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Modelo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i="1" dirty="0" err="1"/>
                        <a:t>Accuracy</a:t>
                      </a:r>
                      <a:endParaRPr lang="es-ES" sz="1400" i="1" dirty="0"/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F1- </a:t>
                      </a:r>
                      <a:r>
                        <a:rPr lang="es-ES" sz="1400" dirty="0" err="1"/>
                        <a:t>Rapida</a:t>
                      </a:r>
                      <a:endParaRPr lang="es-ES" sz="1400" dirty="0"/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F1- Moderada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F1- Prolongado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Macro F1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ROC AUC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Observaciones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420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Modelo </a:t>
                      </a:r>
                      <a:r>
                        <a:rPr lang="es-ES" sz="1400" dirty="0" err="1"/>
                        <a:t>XGBoost</a:t>
                      </a:r>
                      <a:r>
                        <a:rPr lang="es-ES" sz="1400" dirty="0"/>
                        <a:t> + </a:t>
                      </a:r>
                      <a:r>
                        <a:rPr lang="es-ES" sz="1400" dirty="0" err="1"/>
                        <a:t>GridSearch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Modelo sesgado hacia la clase mayoritaria; clase 2 casi no detectada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6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Modelo </a:t>
                      </a:r>
                      <a:r>
                        <a:rPr lang="es-ES" sz="1400" dirty="0" err="1"/>
                        <a:t>XGBoost</a:t>
                      </a:r>
                      <a:r>
                        <a:rPr lang="es-ES" sz="1400" dirty="0"/>
                        <a:t> + </a:t>
                      </a:r>
                      <a:r>
                        <a:rPr lang="es-ES" sz="1400" dirty="0" err="1"/>
                        <a:t>GridSearch</a:t>
                      </a:r>
                      <a:r>
                        <a:rPr lang="es-ES" sz="1400" dirty="0"/>
                        <a:t> +  Ajuste de pesos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Mayor equilibrio entre clases; clase minoritaria detectada mucho mejor, aunque baja precisión global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474649"/>
                  </a:ext>
                </a:extLst>
              </a:tr>
            </a:tbl>
          </a:graphicData>
        </a:graphic>
      </p:graphicFrame>
      <p:graphicFrame>
        <p:nvGraphicFramePr>
          <p:cNvPr id="8" name="Tabla 3">
            <a:extLst>
              <a:ext uri="{FF2B5EF4-FFF2-40B4-BE49-F238E27FC236}">
                <a16:creationId xmlns:a16="http://schemas.microsoft.com/office/drawing/2014/main" id="{9EAEC5F9-0AF6-46DD-89F3-F96194EA6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647464"/>
              </p:ext>
            </p:extLst>
          </p:nvPr>
        </p:nvGraphicFramePr>
        <p:xfrm>
          <a:off x="152399" y="1948617"/>
          <a:ext cx="11904026" cy="168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062">
                  <a:extLst>
                    <a:ext uri="{9D8B030D-6E8A-4147-A177-3AD203B41FA5}">
                      <a16:colId xmlns:a16="http://schemas.microsoft.com/office/drawing/2014/main" val="3475050972"/>
                    </a:ext>
                  </a:extLst>
                </a:gridCol>
                <a:gridCol w="1243251">
                  <a:extLst>
                    <a:ext uri="{9D8B030D-6E8A-4147-A177-3AD203B41FA5}">
                      <a16:colId xmlns:a16="http://schemas.microsoft.com/office/drawing/2014/main" val="3357479368"/>
                    </a:ext>
                  </a:extLst>
                </a:gridCol>
                <a:gridCol w="881012">
                  <a:extLst>
                    <a:ext uri="{9D8B030D-6E8A-4147-A177-3AD203B41FA5}">
                      <a16:colId xmlns:a16="http://schemas.microsoft.com/office/drawing/2014/main" val="2094644419"/>
                    </a:ext>
                  </a:extLst>
                </a:gridCol>
                <a:gridCol w="958008">
                  <a:extLst>
                    <a:ext uri="{9D8B030D-6E8A-4147-A177-3AD203B41FA5}">
                      <a16:colId xmlns:a16="http://schemas.microsoft.com/office/drawing/2014/main" val="1605686705"/>
                    </a:ext>
                  </a:extLst>
                </a:gridCol>
                <a:gridCol w="1260595">
                  <a:extLst>
                    <a:ext uri="{9D8B030D-6E8A-4147-A177-3AD203B41FA5}">
                      <a16:colId xmlns:a16="http://schemas.microsoft.com/office/drawing/2014/main" val="1088461513"/>
                    </a:ext>
                  </a:extLst>
                </a:gridCol>
                <a:gridCol w="1333969">
                  <a:extLst>
                    <a:ext uri="{9D8B030D-6E8A-4147-A177-3AD203B41FA5}">
                      <a16:colId xmlns:a16="http://schemas.microsoft.com/office/drawing/2014/main" val="1823365366"/>
                    </a:ext>
                  </a:extLst>
                </a:gridCol>
                <a:gridCol w="908202">
                  <a:extLst>
                    <a:ext uri="{9D8B030D-6E8A-4147-A177-3AD203B41FA5}">
                      <a16:colId xmlns:a16="http://schemas.microsoft.com/office/drawing/2014/main" val="3490720839"/>
                    </a:ext>
                  </a:extLst>
                </a:gridCol>
                <a:gridCol w="889716">
                  <a:extLst>
                    <a:ext uri="{9D8B030D-6E8A-4147-A177-3AD203B41FA5}">
                      <a16:colId xmlns:a16="http://schemas.microsoft.com/office/drawing/2014/main" val="250822332"/>
                    </a:ext>
                  </a:extLst>
                </a:gridCol>
                <a:gridCol w="2240211">
                  <a:extLst>
                    <a:ext uri="{9D8B030D-6E8A-4147-A177-3AD203B41FA5}">
                      <a16:colId xmlns:a16="http://schemas.microsoft.com/office/drawing/2014/main" val="1313308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Modelo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Oversampling</a:t>
                      </a:r>
                      <a:endParaRPr lang="es-ES" sz="1400" dirty="0"/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i="1" dirty="0" err="1"/>
                        <a:t>Accuracy</a:t>
                      </a:r>
                      <a:endParaRPr lang="es-ES" sz="1400" i="1" dirty="0"/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F1-Rapida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F1- Moderado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F1- Prolongado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Macro F1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ROC AUC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Observaciones</a:t>
                      </a:r>
                    </a:p>
                  </a:txBody>
                  <a:tcPr>
                    <a:solidFill>
                      <a:srgbClr val="E233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420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 err="1"/>
                        <a:t>Random</a:t>
                      </a:r>
                      <a:r>
                        <a:rPr lang="es-ES" sz="1400" dirty="0"/>
                        <a:t> Forest </a:t>
                      </a:r>
                      <a:r>
                        <a:rPr lang="es-ES" sz="1400" dirty="0" err="1"/>
                        <a:t>Grid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Search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Clase mayoritaria acertada; clase minoritaria detectada pero con muchos falsos positivos.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6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 err="1"/>
                        <a:t>Random</a:t>
                      </a:r>
                      <a:r>
                        <a:rPr lang="es-ES" sz="1400" dirty="0"/>
                        <a:t> Forest </a:t>
                      </a:r>
                      <a:r>
                        <a:rPr lang="es-ES" sz="1400" dirty="0" err="1"/>
                        <a:t>Grid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search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SMOTE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Apenas hay cambios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474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823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ridge Reviews | SwitchUp">
            <a:extLst>
              <a:ext uri="{FF2B5EF4-FFF2-40B4-BE49-F238E27FC236}">
                <a16:creationId xmlns:a16="http://schemas.microsoft.com/office/drawing/2014/main" id="{08FF0535-4630-4D8E-89F6-BEFA28AC6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3 - Análisis comparativo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4CAB8F-6ECF-4591-9F17-B486D5FB6CAA}"/>
              </a:ext>
            </a:extLst>
          </p:cNvPr>
          <p:cNvSpPr txBox="1"/>
          <p:nvPr/>
        </p:nvSpPr>
        <p:spPr>
          <a:xfrm>
            <a:off x="-138023" y="1383797"/>
            <a:ext cx="8767872" cy="5686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1600" b="1" dirty="0"/>
              <a:t>Modelo de </a:t>
            </a:r>
            <a:r>
              <a:rPr lang="es-ES" sz="1600" b="1" dirty="0" err="1"/>
              <a:t>Random</a:t>
            </a:r>
            <a:r>
              <a:rPr lang="es-ES" sz="1600" b="1" dirty="0"/>
              <a:t> Forest</a:t>
            </a:r>
            <a:r>
              <a:rPr lang="es-ES" sz="1600" dirty="0"/>
              <a:t> →Fiables para predecir la clase mayoritaria (0: respuestas rápidas), pero no excepciones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SMOTE  Mejora ligeramente el </a:t>
            </a:r>
            <a:r>
              <a:rPr lang="es-ES" sz="1700" i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recall en clase 2</a:t>
            </a: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/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Modelo </a:t>
            </a:r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mas equilibrado 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s-ES" sz="1700" dirty="0" err="1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XGBoost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con </a:t>
            </a:r>
            <a:r>
              <a:rPr lang="es-ES" sz="1700" i="1" dirty="0" err="1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GridSearch</a:t>
            </a:r>
            <a:endParaRPr lang="es-ES" sz="1700" i="1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Mejor capacidad  discriminativa y precisión solida en “respuestas rápidas”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Problema: </a:t>
            </a:r>
            <a:r>
              <a:rPr lang="es-ES" sz="1700" b="1" i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recall</a:t>
            </a:r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bajo 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clases minoritarias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SMOTE no mejora</a:t>
            </a: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/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Mejor modelo desde </a:t>
            </a:r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perspectiva de negocio 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que  </a:t>
            </a:r>
            <a:r>
              <a:rPr lang="es-ES" sz="1700" dirty="0" err="1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XGBoost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con ajuste de pesos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i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Recall</a:t>
            </a:r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de “2” hasta 0,63 y mejora en clase 1, aunque aumenta falsos positivos y caída en exactitud global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b="1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Enfoque adecuado si la prioridad es detectar correctamente retrasos y maximizar acciones preventivas. </a:t>
            </a:r>
            <a:endParaRPr lang="es-ES" sz="1700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700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/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291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ridge Reviews | SwitchUp">
            <a:extLst>
              <a:ext uri="{FF2B5EF4-FFF2-40B4-BE49-F238E27FC236}">
                <a16:creationId xmlns:a16="http://schemas.microsoft.com/office/drawing/2014/main" id="{08FF0535-4630-4D8E-89F6-BEFA28AC6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3" b="7507"/>
          <a:stretch/>
        </p:blipFill>
        <p:spPr bwMode="auto">
          <a:xfrm flipH="1">
            <a:off x="8629849" y="2865219"/>
            <a:ext cx="3562151" cy="39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BK Bootcamps | El Futuro es Digital | Powered by The Bridge">
            <a:extLst>
              <a:ext uri="{FF2B5EF4-FFF2-40B4-BE49-F238E27FC236}">
                <a16:creationId xmlns:a16="http://schemas.microsoft.com/office/drawing/2014/main" id="{735C8942-D005-44F5-88DD-310A0FD0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94400"/>
            <a:ext cx="2741588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42486B1-163F-44E9-8DB2-5045703D86CC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solidFill>
            <a:srgbClr val="E2331C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FA544-4569-44C3-B2CF-EBE92CD4853C}"/>
              </a:ext>
            </a:extLst>
          </p:cNvPr>
          <p:cNvSpPr txBox="1"/>
          <p:nvPr/>
        </p:nvSpPr>
        <p:spPr>
          <a:xfrm>
            <a:off x="152399" y="246221"/>
            <a:ext cx="10910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4CAB8F-6ECF-4591-9F17-B486D5FB6CAA}"/>
              </a:ext>
            </a:extLst>
          </p:cNvPr>
          <p:cNvSpPr txBox="1"/>
          <p:nvPr/>
        </p:nvSpPr>
        <p:spPr>
          <a:xfrm>
            <a:off x="-341222" y="1656885"/>
            <a:ext cx="9112690" cy="6409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350" dirty="0"/>
              <a:t>El Dataset presenta </a:t>
            </a:r>
            <a:r>
              <a:rPr lang="es-ES" sz="1350" b="1" dirty="0"/>
              <a:t>problemas graves de calidad</a:t>
            </a:r>
            <a:r>
              <a:rPr lang="es-ES" sz="1350" dirty="0"/>
              <a:t>, incluyendo valores faltantes, desbalance extremo de clases y poca correlación entre predictores y objetivos, que </a:t>
            </a:r>
            <a:r>
              <a:rPr lang="es-ES" sz="1350" b="1" dirty="0"/>
              <a:t>condiciona de manera decisiva el rendimiento de los modelos.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3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350" b="1" dirty="0"/>
              <a:t>Modelo 1</a:t>
            </a:r>
            <a:r>
              <a:rPr lang="es-ES" sz="1350" dirty="0"/>
              <a:t>: </a:t>
            </a:r>
            <a:r>
              <a:rPr lang="es-ES" sz="1350" b="1" dirty="0" err="1"/>
              <a:t>XGBoost</a:t>
            </a:r>
            <a:r>
              <a:rPr lang="es-ES" sz="1350" b="1" dirty="0"/>
              <a:t> base logra alta exactitud </a:t>
            </a:r>
            <a:r>
              <a:rPr lang="es-ES" sz="1350" dirty="0"/>
              <a:t>pero no detecta disputas reales, mientras que el </a:t>
            </a:r>
            <a:r>
              <a:rPr lang="es-ES" sz="1350" b="1" dirty="0"/>
              <a:t>ajuste de pesos mejora la sensibilidad</a:t>
            </a:r>
            <a:r>
              <a:rPr lang="es-ES" sz="1350" dirty="0"/>
              <a:t> de la clase “Yes” </a:t>
            </a:r>
            <a:r>
              <a:rPr lang="es-ES" sz="1350" b="1" dirty="0"/>
              <a:t>a costa de más falsos positivos </a:t>
            </a:r>
            <a:r>
              <a:rPr lang="es-ES" sz="1350" dirty="0"/>
              <a:t>, reflejando la </a:t>
            </a:r>
            <a:r>
              <a:rPr lang="es-ES" sz="1350" b="1" dirty="0"/>
              <a:t>disyuntiva entre precisión global</a:t>
            </a:r>
            <a:r>
              <a:rPr lang="es-ES" sz="1350" dirty="0"/>
              <a:t> y </a:t>
            </a:r>
            <a:r>
              <a:rPr lang="es-ES" sz="1350" b="1" dirty="0"/>
              <a:t>operatividad enfocada al negocio</a:t>
            </a:r>
            <a:r>
              <a:rPr lang="es-ES" sz="135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3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350" b="1" dirty="0"/>
              <a:t>Modelo 2</a:t>
            </a:r>
            <a:r>
              <a:rPr lang="es-ES" sz="1350" dirty="0"/>
              <a:t>: </a:t>
            </a:r>
            <a:r>
              <a:rPr lang="es-ES" sz="1350" b="1" dirty="0" err="1"/>
              <a:t>XGBoost</a:t>
            </a:r>
            <a:r>
              <a:rPr lang="es-ES" sz="1350" b="1" dirty="0"/>
              <a:t> con ajuste de pesos </a:t>
            </a:r>
            <a:r>
              <a:rPr lang="es-ES" sz="1350" dirty="0"/>
              <a:t>maximiza el </a:t>
            </a:r>
            <a:r>
              <a:rPr lang="es-ES" sz="1350" i="1" dirty="0"/>
              <a:t>recall</a:t>
            </a:r>
            <a:r>
              <a:rPr lang="es-ES" sz="1350" dirty="0"/>
              <a:t> de respuestas tardías, </a:t>
            </a:r>
            <a:r>
              <a:rPr lang="es-ES" sz="1350" b="1" dirty="0"/>
              <a:t>generando falsas alarmas</a:t>
            </a:r>
            <a:r>
              <a:rPr lang="es-ES" sz="1350" dirty="0"/>
              <a:t>, </a:t>
            </a:r>
            <a:r>
              <a:rPr lang="es-ES" sz="1350" b="1" dirty="0"/>
              <a:t>lo que resulta útil para anticipar problemas de gestión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3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350" b="1" dirty="0"/>
              <a:t>Modelo 3: Los modelos lineales clásicos </a:t>
            </a:r>
            <a:r>
              <a:rPr lang="es-ES" sz="1350" dirty="0"/>
              <a:t>presentan un </a:t>
            </a:r>
            <a:r>
              <a:rPr lang="es-ES" sz="1350" b="1" dirty="0"/>
              <a:t>desempeño muy limitado</a:t>
            </a:r>
            <a:r>
              <a:rPr lang="es-ES" sz="1350" dirty="0"/>
              <a:t> por la </a:t>
            </a:r>
            <a:r>
              <a:rPr lang="es-ES" sz="1350" b="1" dirty="0"/>
              <a:t>baja correlación entre predictores y objetivo</a:t>
            </a:r>
            <a:r>
              <a:rPr lang="es-ES" sz="1350" dirty="0"/>
              <a:t>, dado la mala calidad de los datos.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3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350" b="1" dirty="0"/>
              <a:t>Modelo 3</a:t>
            </a:r>
            <a:r>
              <a:rPr lang="es-ES" sz="1350" dirty="0"/>
              <a:t>: A nivel de clasificación </a:t>
            </a:r>
            <a:r>
              <a:rPr lang="es-ES" sz="1350" dirty="0" err="1"/>
              <a:t>ningúno</a:t>
            </a:r>
            <a:r>
              <a:rPr lang="es-ES" sz="1350" dirty="0"/>
              <a:t> resuelve completamente el desbalance en tiempos, aunque </a:t>
            </a:r>
            <a:r>
              <a:rPr lang="es-ES" sz="1350" b="1" dirty="0" err="1"/>
              <a:t>XGBoost</a:t>
            </a:r>
            <a:r>
              <a:rPr lang="es-ES" sz="1350" b="1" dirty="0"/>
              <a:t> con ajuste de pesos</a:t>
            </a:r>
            <a:r>
              <a:rPr lang="es-ES" sz="1350" dirty="0"/>
              <a:t> mejora la detección de las clases tardías aunque cae la exactitud, este </a:t>
            </a:r>
            <a:r>
              <a:rPr lang="es-ES" sz="1350" b="1" dirty="0"/>
              <a:t>enfoque es adecuado si la prioridad es detectar correctamente los retrasos y maximizar acciones preventivas</a:t>
            </a:r>
            <a:r>
              <a:rPr lang="es-ES" sz="135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3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300" dirty="0"/>
              <a:t>En definitiva, en problemas de clasificación con datos incompletos y desbalanceados, este tipo de </a:t>
            </a:r>
            <a:r>
              <a:rPr lang="es-ES" sz="1300" b="1" dirty="0"/>
              <a:t>aproximaciones de </a:t>
            </a:r>
            <a:r>
              <a:rPr lang="es-ES" sz="1300" b="1" dirty="0" err="1"/>
              <a:t>sobremuestreo</a:t>
            </a:r>
            <a:r>
              <a:rPr lang="es-ES" sz="1300" b="1" dirty="0"/>
              <a:t>, ajuste de pesos y </a:t>
            </a:r>
            <a:r>
              <a:rPr lang="es-ES" sz="1300" b="1" dirty="0" err="1"/>
              <a:t>hiperparametrización</a:t>
            </a:r>
            <a:r>
              <a:rPr lang="es-ES" sz="1300" b="1" dirty="0"/>
              <a:t> son eficaces</a:t>
            </a:r>
            <a:r>
              <a:rPr lang="es-ES" sz="1300" dirty="0"/>
              <a:t>, siempre recordando que la calidad del dataset es un factor limitante insalvable. Dado que esto </a:t>
            </a:r>
            <a:r>
              <a:rPr lang="es-ES" sz="1300" b="1" dirty="0"/>
              <a:t>permiten maximizar la detección de casos críticos, que es de interés para el negocio, aunque implique asumir un mayor numero de falsas alarmas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3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700" dirty="0"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1"/>
            <a:r>
              <a:rPr lang="es-ES" sz="1700" dirty="0"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ES" sz="17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5611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2313</Words>
  <Application>Microsoft Office PowerPoint</Application>
  <PresentationFormat>Panorámica</PresentationFormat>
  <Paragraphs>474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Jon Olalde</dc:creator>
  <cp:lastModifiedBy>Jon Olalde</cp:lastModifiedBy>
  <cp:revision>40</cp:revision>
  <dcterms:created xsi:type="dcterms:W3CDTF">2025-09-08T16:15:23Z</dcterms:created>
  <dcterms:modified xsi:type="dcterms:W3CDTF">2025-09-11T12:00:37Z</dcterms:modified>
</cp:coreProperties>
</file>